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08ef1be597431d" /><Relationship Type="http://schemas.openxmlformats.org/officeDocument/2006/relationships/extended-properties" Target="/docProps/app.xml" Id="R5ee823e74bca4e63" /><Relationship Type="http://schemas.openxmlformats.org/officeDocument/2006/relationships/officeDocument" Target="/ppt/presentation.xml" Id="R21cdd93d41b54b4c" /></Relationships>
</file>

<file path=ppt/presentation.xml><?xml version="1.0" encoding="utf-8"?>
<p:presentation xmlns:p="http://schemas.openxmlformats.org/presentationml/2006/main">
  <p:sldMasterIdLst>
    <p:sldMasterId xmlns:r="http://schemas.openxmlformats.org/officeDocument/2006/relationships" id="2147483648" r:id="R5d2a4d7134864781"/>
  </p:sldMasterIdLst>
  <p:notesMasterIdLst>
    <p:notesMasterId xmlns:r="http://schemas.openxmlformats.org/officeDocument/2006/relationships" r:id="Rbb366cb096cd4bdf"/>
  </p:notesMasterIdLst>
  <p:sldIdLst>
    <p:sldId xmlns:r="http://schemas.openxmlformats.org/officeDocument/2006/relationships" id="256" r:id="R0ffee17716794a32"/>
    <p:sldId xmlns:r="http://schemas.openxmlformats.org/officeDocument/2006/relationships" id="257" r:id="Rb467b8d811794619"/>
    <p:sldId xmlns:r="http://schemas.openxmlformats.org/officeDocument/2006/relationships" id="258" r:id="Rb3c3c8242f2b4adb"/>
    <p:sldId xmlns:r="http://schemas.openxmlformats.org/officeDocument/2006/relationships" id="259" r:id="R26dc21b522b648cc"/>
    <p:sldId xmlns:r="http://schemas.openxmlformats.org/officeDocument/2006/relationships" id="260" r:id="Rb29827550b3445cc"/>
    <p:sldId xmlns:r="http://schemas.openxmlformats.org/officeDocument/2006/relationships" id="261" r:id="R4ee2594a6ebc4b06"/>
    <p:sldId xmlns:r="http://schemas.openxmlformats.org/officeDocument/2006/relationships" id="262" r:id="Re9ef6bc5d1334d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895d645f0747ad" /><Relationship Type="http://schemas.openxmlformats.org/officeDocument/2006/relationships/slideMaster" Target="/ppt/slideMasters/slideMaster1.xml" Id="R5d2a4d7134864781" /><Relationship Type="http://schemas.openxmlformats.org/officeDocument/2006/relationships/notesMaster" Target="/ppt/notesMasters/notesMaster1.xml" Id="Rbb366cb096cd4bdf" /><Relationship Type="http://schemas.openxmlformats.org/officeDocument/2006/relationships/presProps" Target="/ppt/presProps.xml" Id="R2327add59dc24e6f" /><Relationship Type="http://schemas.openxmlformats.org/officeDocument/2006/relationships/tableStyles" Target="/ppt/tableStyles.xml" Id="Rfea3afb76e3547a3" /><Relationship Type="http://schemas.openxmlformats.org/officeDocument/2006/relationships/slide" Target="/ppt/slides/slide1.xml" Id="R0ffee17716794a32" /><Relationship Type="http://schemas.openxmlformats.org/officeDocument/2006/relationships/slide" Target="/ppt/slides/slide2.xml" Id="Rb467b8d811794619" /><Relationship Type="http://schemas.openxmlformats.org/officeDocument/2006/relationships/slide" Target="/ppt/slides/slide3.xml" Id="Rb3c3c8242f2b4adb" /><Relationship Type="http://schemas.openxmlformats.org/officeDocument/2006/relationships/slide" Target="/ppt/slides/slide4.xml" Id="R26dc21b522b648cc" /><Relationship Type="http://schemas.openxmlformats.org/officeDocument/2006/relationships/slide" Target="/ppt/slides/slide5.xml" Id="Rb29827550b3445cc" /><Relationship Type="http://schemas.openxmlformats.org/officeDocument/2006/relationships/slide" Target="/ppt/slides/slide6.xml" Id="R4ee2594a6ebc4b06" /><Relationship Type="http://schemas.openxmlformats.org/officeDocument/2006/relationships/slide" Target="/ppt/slides/slide7.xml" Id="Re9ef6bc5d1334d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4733b07bbd4a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85e399946c42c3" /><Relationship Type="http://schemas.openxmlformats.org/officeDocument/2006/relationships/notesMaster" Target="/ppt/notesMasters/notesMaster1.xml" Id="R09584a577ae74a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480b03abcb40ac" /><Relationship Type="http://schemas.openxmlformats.org/officeDocument/2006/relationships/notesMaster" Target="/ppt/notesMasters/notesMaster1.xml" Id="R083d85a3e3f84d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ba5b4fb40c46ef" /><Relationship Type="http://schemas.openxmlformats.org/officeDocument/2006/relationships/notesMaster" Target="/ppt/notesMasters/notesMaster1.xml" Id="R9d9f38d12c894a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d16ef12487405f" /><Relationship Type="http://schemas.openxmlformats.org/officeDocument/2006/relationships/notesMaster" Target="/ppt/notesMasters/notesMaster1.xml" Id="Rdab85690b0174c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27b035a82a40f0" /><Relationship Type="http://schemas.openxmlformats.org/officeDocument/2006/relationships/notesMaster" Target="/ppt/notesMasters/notesMaster1.xml" Id="R832155ad05be4b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e5251a3f614486" /><Relationship Type="http://schemas.openxmlformats.org/officeDocument/2006/relationships/notesMaster" Target="/ppt/notesMasters/notesMaster1.xml" Id="R223bba467a4740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7000a269ac49bd" /><Relationship Type="http://schemas.openxmlformats.org/officeDocument/2006/relationships/notesMaster" Target="/ppt/notesMasters/notesMaster1.xml" Id="Rb8f84f8e3aa945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implementation: https://github.com/parth-chourasia/BITS_Goa-Parth_Chourasia_hackathon</a:t>
            </a:r>
          </a:p>
          <a:p xmlns:a="http://schemas.openxmlformats.org/drawingml/2006/main">
            <a:r>
              <a:t>This is a hackathon prototype. The index uses simulated weights.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statement supplied by the user requires at least two text sources, structured sentiment/event/impact fields and at least one downstream module. The user selected Module A. Implementation: https://github.com/parth-chourasia/BITS_Goa-Parth_Chourasia_hackathon/blob/main/README.md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source: https://github.com/parth-chourasia/BITS_Goa-Parth_Chourasia_hackathon/blob/main/README.md</a:t>
            </a:r>
          </a:p>
          <a:p xmlns:a="http://schemas.openxmlformats.org/drawingml/2006/main">
            <a:r>
              <a:t>Default sources are the historical social dataset and source-linked news sample. Optional current sources are GDELT, official RSS feeds and Bluesky. The dashboard calls the same sentiment, event and portfolio functions for user-entered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https://github.com/parth-chourasia/BITS_Goa-Parth_Chourasia_hackathon/blob/main/src/train_sentiment.py and https://github.com/parth-chourasia/BITS_Goa-Parth_Chourasia_hackathon/blob/main/src/portfolio.py</a:t>
            </a:r>
          </a:p>
          <a:p xmlns:a="http://schemas.openxmlformats.org/drawingml/2006/main">
            <a:r>
              <a:t>The sentiment score is P(bullish) minus P(bearish). The 0.2 sensitivity is a simulation choice. Transfer equals the smaller of total desired increases and total desired decreases, then splits proportionally within each side. No opposite sign means no transfer. Other/Unclear events do not change weights. Sources: https://huggingface.co/datasets/zeroshot/twitter-financial-news-sentiment (MIT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source: https://github.com/parth-chourasia/BITS_Goa-Parth_Chourasia_hackathon/blob/main/README.md and generated data/rebalanced_index.csv in the default run at commit 326ae7d. Default run has 14 social items plus 10 news samples, 13 eligible event signals and 14 snapshots including the initial state. Validation accuracy 0.802 and macro F1 0.744. Test suite: https://github.com/parth-chourasia/BITS_Goa-Parth_Chourasia_hackathon/blob/main/tests/test_core.py. Rounded examples are a subset of the 10-stock index. They do not by themselves sum to 100%. No return backtest or news sentiment accuracy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supported by https://github.com/parth-chourasia/BITS_Goa-Parth_Chourasia_hackathon/blob/main/app.py. The prototype supports review and simulation. It has no measured improvement in analyst time, portfolio returns or loss reduction. Entered text remains temporary and does not alter baseline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Limitations: https://github.com/parth-chourasia/BITS_Goa-Parth_Chourasia_hackathon/blob/main/README.md</a:t>
            </a:r>
          </a:p>
          <a:p xmlns:a="http://schemas.openxmlformats.org/drawingml/2006/main">
            <a:r>
              <a:t>Live source coverage varies. Bluesky posts may include unverified claims. Impact scores and alpha are prototype assumptions. No market-calibrated impact forecast or investment performance claim. AI assistance supported code, debugging and slide preparation. Candidate should follow the hackathon AI disclosure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d75cda43454e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7a4df8e33446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6dc68158cd46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6ebe0e9ac043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6798d340cd45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f0f3c3036248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398CDF-6670-41FA-8FE8-46A4CECD66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4ADD4D-1F32-4DCA-AB52-CB721CE3CA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46711FF-E4C4-477D-9F2B-81084E81B4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CCC22D-3129-4539-80D2-736FF53BB5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BACE32-63C5-4E45-98FE-581FA10B69C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AAC67E-6352-4CB4-BD4A-71D405E8D4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CE8A1A-8D58-49F2-A62E-64F65C0EF8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3DE7459-2FB9-4E97-9FFE-BC7C899ABE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8962AC-AEF0-4374-9349-065546130C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ED36EC-5312-4C62-9232-1DB83C1026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0f2c4e9cbe4d69" /><Relationship Type="http://schemas.openxmlformats.org/officeDocument/2006/relationships/slideLayout" Target="/ppt/slideLayouts/slideLayout1.xml" Id="R91aec9a6ce984043" /><Relationship Type="http://schemas.openxmlformats.org/officeDocument/2006/relationships/slideLayout" Target="/ppt/slideLayouts/slideLayout2.xml" Id="R6e889b7ce074436d" /><Relationship Type="http://schemas.openxmlformats.org/officeDocument/2006/relationships/slideLayout" Target="/ppt/slideLayouts/slideLayout3.xml" Id="R97b5055148db4410" /><Relationship Type="http://schemas.openxmlformats.org/officeDocument/2006/relationships/slideLayout" Target="/ppt/slideLayouts/slideLayout4.xml" Id="R37102913db6e4427" /><Relationship Type="http://schemas.openxmlformats.org/officeDocument/2006/relationships/slideLayout" Target="/ppt/slideLayouts/slideLayout5.xml" Id="R37d21dbaee2d4de6" /><Relationship Type="http://schemas.openxmlformats.org/officeDocument/2006/relationships/slideLayout" Target="/ppt/slideLayouts/slideLayout6.xml" Id="R5abd1f769a824b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aec9a6ce984043"/>
    <p:sldLayoutId xmlns:r="http://schemas.openxmlformats.org/officeDocument/2006/relationships" id="2147483650" r:id="R6e889b7ce074436d"/>
    <p:sldLayoutId xmlns:r="http://schemas.openxmlformats.org/officeDocument/2006/relationships" id="2147483651" r:id="R97b5055148db4410"/>
    <p:sldLayoutId xmlns:r="http://schemas.openxmlformats.org/officeDocument/2006/relationships" id="2147483652" r:id="R37102913db6e4427"/>
    <p:sldLayoutId xmlns:r="http://schemas.openxmlformats.org/officeDocument/2006/relationships" id="2147483653" r:id="R37d21dbaee2d4de6"/>
    <p:sldLayoutId xmlns:r="http://schemas.openxmlformats.org/officeDocument/2006/relationships" id="2147483654" r:id="R5abd1f769a824b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5067acbe9941c9" /><Relationship Type="http://schemas.openxmlformats.org/officeDocument/2006/relationships/notesSlide" Target="/ppt/notesSlides/notesSlide1.xml" Id="Rb1ca8a9392c143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cb57e412464e4d" /><Relationship Type="http://schemas.openxmlformats.org/officeDocument/2006/relationships/notesSlide" Target="/ppt/notesSlides/notesSlide2.xml" Id="R597dee2896164b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ac2b718e965465f" /><Relationship Type="http://schemas.openxmlformats.org/officeDocument/2006/relationships/notesSlide" Target="/ppt/notesSlides/notesSlide3.xml" Id="R9b5d89fa530448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0e8b67e75547ee" /><Relationship Type="http://schemas.openxmlformats.org/officeDocument/2006/relationships/notesSlide" Target="/ppt/notesSlides/notesSlide4.xml" Id="Rb011d3346e2447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aa1830aa0e4af3" /><Relationship Type="http://schemas.openxmlformats.org/officeDocument/2006/relationships/notesSlide" Target="/ppt/notesSlides/notesSlide5.xml" Id="Rd09dc4e66d8646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07aae785b64eb5" /><Relationship Type="http://schemas.openxmlformats.org/officeDocument/2006/relationships/notesSlide" Target="/ppt/notesSlides/notesSlide6.xml" Id="R738369446e644e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98199cc8344c3b" /><Relationship Type="http://schemas.openxmlformats.org/officeDocument/2006/relationships/notesSlide" Target="/ppt/notesSlides/notesSlide7.xml" Id="R185e3db0febf4b5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9E8A32-E357-4297-9144-62E81F05CB69}"/>
              </a:ext>
            </a:extLst>
          </p:cNvPr>
          <p:cNvSpPr>
            <a:spLocks xmlns:a="http://schemas.openxmlformats.org/drawingml/2006/main" noGrp="1"/>
          </p:cNvSpPr>
          <p:nvPr/>
        </p:nvSpPr>
        <p:spPr>
          <a:xfrm xmlns:a="http://schemas.openxmlformats.org/drawingml/2006/main">
            <a:off x="666750" y="1524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142538"/>
                </a:solidFill>
                <a:latin typeface="Arial"/>
                <a:ea typeface="Arial"/>
                <a:cs typeface="Arial"/>
              </a:defRPr>
            </a:defPPr>
          </a:lstStyle>
          <a:p xmlns:a="http://schemas.openxmlformats.org/drawingml/2006/main">
            <a:pPr>
              <a:defRPr sz="4350" b="1">
                <a:solidFill>
                  <a:srgbClr val="142538"/>
                </a:solidFill>
                <a:latin typeface="Arial"/>
                <a:ea typeface="Arial"/>
                <a:cs typeface="Arial"/>
              </a:defRPr>
            </a:pPr>
            <a:r>
              <a:rPr sz="4350" b="1">
                <a:solidFill>
                  <a:srgbClr val="142538"/>
                </a:solidFill>
                <a:latin typeface="Arial"/>
                <a:ea typeface="Arial"/>
                <a:cs typeface="Arial"/>
              </a:rPr>
              <a:t>Financial text risk engine</a:t>
            </a:r>
          </a:p>
        </p:txBody>
      </p:sp>
      <p:sp>
        <p:nvSpPr>
          <p:cNvPr id="2" name="">
            <a:extLst xmlns:a="http://schemas.openxmlformats.org/drawingml/2006/main">
              <a:ext uri="{FF2B5EF4-FFF2-40B4-BE49-F238E27FC236}">
                <a16:creationId xmlns:a16="http://schemas.microsoft.com/office/drawing/2014/main" id="{2177C725-67E0-446C-8B15-14D353BBBCA3}"/>
              </a:ext>
            </a:extLst>
          </p:cNvPr>
          <p:cNvSpPr>
            <a:spLocks xmlns:a="http://schemas.openxmlformats.org/drawingml/2006/main" noGrp="1"/>
          </p:cNvSpPr>
          <p:nvPr/>
        </p:nvSpPr>
        <p:spPr>
          <a:xfrm xmlns:a="http://schemas.openxmlformats.org/drawingml/2006/main">
            <a:off x="666750" y="25812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B51F32"/>
                </a:solidFill>
                <a:latin typeface="Arial"/>
                <a:ea typeface="Arial"/>
                <a:cs typeface="Arial"/>
              </a:defRPr>
            </a:defPPr>
          </a:lstStyle>
          <a:p xmlns:a="http://schemas.openxmlformats.org/drawingml/2006/main">
            <a:pPr>
              <a:defRPr sz="2625" b="0">
                <a:solidFill>
                  <a:srgbClr val="B51F32"/>
                </a:solidFill>
                <a:latin typeface="Arial"/>
                <a:ea typeface="Arial"/>
                <a:cs typeface="Arial"/>
              </a:defRPr>
            </a:pPr>
            <a:r>
              <a:rPr sz="2625" b="0">
                <a:solidFill>
                  <a:srgbClr val="B51F32"/>
                </a:solidFill>
                <a:latin typeface="Arial"/>
                <a:ea typeface="Arial"/>
                <a:cs typeface="Arial"/>
              </a:rPr>
              <a:t>Module A: sentiment-based mock index</a:t>
            </a:r>
          </a:p>
        </p:txBody>
      </p:sp>
      <p:sp>
        <p:nvSpPr>
          <p:cNvPr id="3" name="">
            <a:extLst xmlns:a="http://schemas.openxmlformats.org/drawingml/2006/main">
              <a:ext uri="{FF2B5EF4-FFF2-40B4-BE49-F238E27FC236}">
                <a16:creationId xmlns:a16="http://schemas.microsoft.com/office/drawing/2014/main" id="{ECA9EA48-3079-42CA-8829-E28D059C9870}"/>
              </a:ext>
            </a:extLst>
          </p:cNvPr>
          <p:cNvSpPr>
            <a:spLocks xmlns:a="http://schemas.openxmlformats.org/drawingml/2006/main" noGrp="1"/>
          </p:cNvSpPr>
          <p:nvPr/>
        </p:nvSpPr>
        <p:spPr>
          <a:xfrm xmlns:a="http://schemas.openxmlformats.org/drawingml/2006/main">
            <a:off x="666750" y="41910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2538"/>
                </a:solidFill>
                <a:latin typeface="Arial"/>
                <a:ea typeface="Arial"/>
                <a:cs typeface="Arial"/>
              </a:defRPr>
            </a:defPPr>
          </a:lstStyle>
          <a:p xmlns:a="http://schemas.openxmlformats.org/drawingml/2006/main">
            <a:pPr>
              <a:defRPr sz="2175" b="0">
                <a:solidFill>
                  <a:srgbClr val="142538"/>
                </a:solidFill>
                <a:latin typeface="Arial"/>
                <a:ea typeface="Arial"/>
                <a:cs typeface="Arial"/>
              </a:defRPr>
            </a:pPr>
            <a:r>
              <a:rPr sz="2175" b="0">
                <a:solidFill>
                  <a:srgbClr val="142538"/>
                </a:solidFill>
                <a:latin typeface="Arial"/>
                <a:ea typeface="Arial"/>
                <a:cs typeface="Arial"/>
              </a:rPr>
              <a:t>Parth Chourasia</a:t>
            </a:r>
          </a:p>
          <a:p xmlns:a="http://schemas.openxmlformats.org/drawingml/2006/main">
            <a:pPr>
              <a:defRPr sz="2175" b="0">
                <a:solidFill>
                  <a:srgbClr val="142538"/>
                </a:solidFill>
                <a:latin typeface="Arial"/>
                <a:ea typeface="Arial"/>
                <a:cs typeface="Arial"/>
              </a:defRPr>
            </a:pPr>
            <a:r>
              <a:rPr sz="2175" b="0">
                <a:solidFill>
                  <a:srgbClr val="142538"/>
                </a:solidFill>
                <a:latin typeface="Arial"/>
                <a:ea typeface="Arial"/>
                <a:cs typeface="Arial"/>
              </a:rPr>
              <a:t>BITS Pilani, Goa Campus</a:t>
            </a:r>
          </a:p>
        </p:txBody>
      </p:sp>
      <p:sp>
        <p:nvSpPr>
          <p:cNvPr id="4" name="">
            <a:extLst xmlns:a="http://schemas.openxmlformats.org/drawingml/2006/main">
              <a:ext uri="{FF2B5EF4-FFF2-40B4-BE49-F238E27FC236}">
                <a16:creationId xmlns:a16="http://schemas.microsoft.com/office/drawing/2014/main" id="{ABF24E69-9EC7-480C-BA88-BBCC1128B86A}"/>
              </a:ext>
            </a:extLst>
          </p:cNvPr>
          <p:cNvSpPr>
            <a:spLocks xmlns:a="http://schemas.openxmlformats.org/drawingml/2006/main" noGrp="1"/>
          </p:cNvSpPr>
          <p:nvPr/>
        </p:nvSpPr>
        <p:spPr>
          <a:xfrm xmlns:a="http://schemas.openxmlformats.org/drawingml/2006/main">
            <a:off x="666750" y="58578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4F6070"/>
                </a:solidFill>
                <a:latin typeface="Arial"/>
                <a:ea typeface="Arial"/>
                <a:cs typeface="Arial"/>
              </a:defRPr>
            </a:defPPr>
          </a:lstStyle>
          <a:p xmlns:a="http://schemas.openxmlformats.org/drawingml/2006/main">
            <a:pPr>
              <a:defRPr sz="1875" b="0">
                <a:solidFill>
                  <a:srgbClr val="4F6070"/>
                </a:solidFill>
                <a:latin typeface="Arial"/>
                <a:ea typeface="Arial"/>
                <a:cs typeface="Arial"/>
              </a:defRPr>
            </a:pPr>
            <a:r>
              <a:rPr sz="1875" b="0">
                <a:solidFill>
                  <a:srgbClr val="4F6070"/>
                </a:solidFill>
                <a:latin typeface="Arial"/>
                <a:ea typeface="Arial"/>
                <a:cs typeface="Arial"/>
              </a:rPr>
              <a:t>S&amp;P Global × Crisil Campus Hackathon 2026</a:t>
            </a:r>
          </a:p>
        </p:txBody>
      </p:sp>
      <p:sp>
        <p:nvSpPr>
          <p:cNvPr id="5" name="">
            <a:extLst xmlns:a="http://schemas.openxmlformats.org/drawingml/2006/main">
              <a:ext uri="{FF2B5EF4-FFF2-40B4-BE49-F238E27FC236}">
                <a16:creationId xmlns:a16="http://schemas.microsoft.com/office/drawing/2014/main" id="{FE6297CA-DD50-40B7-8E40-4703AE715C6B}"/>
              </a:ext>
            </a:extLst>
          </p:cNvPr>
          <p:cNvSpPr>
            <a:spLocks xmlns:a="http://schemas.openxmlformats.org/drawingml/2006/main" noGrp="1"/>
          </p:cNvSpPr>
          <p:nvPr/>
        </p:nvSpPr>
        <p:spPr>
          <a:xfrm xmlns:a="http://schemas.openxmlformats.org/drawingml/2006/main">
            <a:off x="10953750" y="637222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F6070"/>
                </a:solidFill>
                <a:latin typeface="Arial"/>
                <a:ea typeface="Arial"/>
                <a:cs typeface="Arial"/>
              </a:defRPr>
            </a:defPPr>
          </a:lstStyle>
          <a:p xmlns:a="http://schemas.openxmlformats.org/drawingml/2006/main">
            <a:pPr>
              <a:defRPr sz="1350" b="0">
                <a:solidFill>
                  <a:srgbClr val="4F6070"/>
                </a:solidFill>
                <a:latin typeface="Arial"/>
                <a:ea typeface="Arial"/>
                <a:cs typeface="Arial"/>
              </a:defRPr>
            </a:pPr>
            <a:r>
              <a:rPr sz="1350" b="0">
                <a:solidFill>
                  <a:srgbClr val="4F6070"/>
                </a:solidFill>
                <a:latin typeface="Arial"/>
                <a:ea typeface="Arial"/>
                <a:cs typeface="Arial"/>
              </a:rPr>
              <a:t>1 / 7</a:t>
            </a:r>
          </a:p>
        </p:txBody>
      </p:sp>
    </p:spTree>
    <p:extLst>
      <p:ext uri="{BB962C8B-B14F-4D97-AF65-F5344CB8AC3E}">
        <p14:creationId xmlns:p14="http://schemas.microsoft.com/office/powerpoint/2010/main" val="19112856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9E1600-2264-4092-BBA4-09CE3CD3B955}"/>
              </a:ext>
            </a:extLst>
          </p:cNvPr>
          <p:cNvSpPr>
            <a:spLocks xmlns:a="http://schemas.openxmlformats.org/drawingml/2006/main" noGrp="1"/>
          </p:cNvSpPr>
          <p:nvPr/>
        </p:nvSpPr>
        <p:spPr>
          <a:xfrm xmlns:a="http://schemas.openxmlformats.org/drawingml/2006/main">
            <a:off x="666750" y="523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538"/>
                </a:solidFill>
                <a:latin typeface="Arial"/>
                <a:ea typeface="Arial"/>
                <a:cs typeface="Arial"/>
              </a:defRPr>
            </a:defPPr>
          </a:lstStyle>
          <a:p xmlns:a="http://schemas.openxmlformats.org/drawingml/2006/main">
            <a:pPr>
              <a:defRPr sz="3300" b="1">
                <a:solidFill>
                  <a:srgbClr val="142538"/>
                </a:solidFill>
                <a:latin typeface="Arial"/>
                <a:ea typeface="Arial"/>
                <a:cs typeface="Arial"/>
              </a:defRPr>
            </a:pPr>
            <a:r>
              <a:rPr sz="3300" b="1">
                <a:solidFill>
                  <a:srgbClr val="142538"/>
                </a:solidFill>
                <a:latin typeface="Arial"/>
                <a:ea typeface="Arial"/>
                <a:cs typeface="Arial"/>
              </a:rPr>
              <a:t>Problem and approach</a:t>
            </a:r>
          </a:p>
        </p:txBody>
      </p:sp>
      <p:sp>
        <p:nvSpPr>
          <p:cNvPr id="2" name="">
            <a:extLst xmlns:a="http://schemas.openxmlformats.org/drawingml/2006/main">
              <a:ext uri="{FF2B5EF4-FFF2-40B4-BE49-F238E27FC236}">
                <a16:creationId xmlns:a16="http://schemas.microsoft.com/office/drawing/2014/main" id="{6A86EF82-0708-47EF-9426-13923D91AB3A}"/>
              </a:ext>
            </a:extLst>
          </p:cNvPr>
          <p:cNvSpPr>
            <a:spLocks xmlns:a="http://schemas.openxmlformats.org/drawingml/2006/main" noGrp="1"/>
          </p:cNvSpPr>
          <p:nvPr/>
        </p:nvSpPr>
        <p:spPr>
          <a:xfrm xmlns:a="http://schemas.openxmlformats.org/drawingml/2006/main">
            <a:off x="10953750" y="637222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F6070"/>
                </a:solidFill>
                <a:latin typeface="Arial"/>
                <a:ea typeface="Arial"/>
                <a:cs typeface="Arial"/>
              </a:defRPr>
            </a:defPPr>
          </a:lstStyle>
          <a:p xmlns:a="http://schemas.openxmlformats.org/drawingml/2006/main">
            <a:pPr>
              <a:defRPr sz="1350" b="0">
                <a:solidFill>
                  <a:srgbClr val="4F6070"/>
                </a:solidFill>
                <a:latin typeface="Arial"/>
                <a:ea typeface="Arial"/>
                <a:cs typeface="Arial"/>
              </a:defRPr>
            </a:pPr>
            <a:r>
              <a:rPr sz="1350" b="0">
                <a:solidFill>
                  <a:srgbClr val="4F6070"/>
                </a:solidFill>
                <a:latin typeface="Arial"/>
                <a:ea typeface="Arial"/>
                <a:cs typeface="Arial"/>
              </a:rPr>
              <a:t>2 / 7</a:t>
            </a:r>
          </a:p>
        </p:txBody>
      </p:sp>
      <p:sp>
        <p:nvSpPr>
          <p:cNvPr id="3" name="">
            <a:extLst xmlns:a="http://schemas.openxmlformats.org/drawingml/2006/main">
              <a:ext uri="{FF2B5EF4-FFF2-40B4-BE49-F238E27FC236}">
                <a16:creationId xmlns:a16="http://schemas.microsoft.com/office/drawing/2014/main" id="{A75146B9-8A34-43E5-845C-C860B4E603EA}"/>
              </a:ext>
            </a:extLst>
          </p:cNvPr>
          <p:cNvSpPr>
            <a:spLocks xmlns:a="http://schemas.openxmlformats.org/drawingml/2006/main" noGrp="1"/>
          </p:cNvSpPr>
          <p:nvPr/>
        </p:nvSpPr>
        <p:spPr>
          <a:xfrm xmlns:a="http://schemas.openxmlformats.org/drawingml/2006/main">
            <a:off x="666750" y="16192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73EFF409-ED7B-4104-A6EC-7A37CD2C0DFB}"/>
              </a:ext>
            </a:extLst>
          </p:cNvPr>
          <p:cNvSpPr>
            <a:spLocks xmlns:a="http://schemas.openxmlformats.org/drawingml/2006/main" noGrp="1"/>
          </p:cNvSpPr>
          <p:nvPr/>
        </p:nvSpPr>
        <p:spPr>
          <a:xfrm xmlns:a="http://schemas.openxmlformats.org/drawingml/2006/main">
            <a:off x="666750" y="21526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538"/>
                </a:solidFill>
                <a:latin typeface="Arial"/>
                <a:ea typeface="Arial"/>
                <a:cs typeface="Arial"/>
              </a:defRPr>
            </a:defPPr>
          </a:lstStyle>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News and social posts describe events that affect companies.</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The text has no fixed format. A program must turn it into fields it can use.</a:t>
            </a:r>
          </a:p>
        </p:txBody>
      </p:sp>
      <p:sp>
        <p:nvSpPr>
          <p:cNvPr id="5" name="">
            <a:extLst xmlns:a="http://schemas.openxmlformats.org/drawingml/2006/main">
              <a:ext uri="{FF2B5EF4-FFF2-40B4-BE49-F238E27FC236}">
                <a16:creationId xmlns:a16="http://schemas.microsoft.com/office/drawing/2014/main" id="{31DD39CF-0F02-4C4F-87C3-03F78662DF02}"/>
              </a:ext>
            </a:extLst>
          </p:cNvPr>
          <p:cNvSpPr>
            <a:spLocks xmlns:a="http://schemas.openxmlformats.org/drawingml/2006/main" noGrp="1"/>
          </p:cNvSpPr>
          <p:nvPr/>
        </p:nvSpPr>
        <p:spPr>
          <a:xfrm xmlns:a="http://schemas.openxmlformats.org/drawingml/2006/main">
            <a:off x="6572250" y="16192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Our approach</a:t>
            </a:r>
          </a:p>
        </p:txBody>
      </p:sp>
      <p:sp>
        <p:nvSpPr>
          <p:cNvPr id="6" name="">
            <a:extLst xmlns:a="http://schemas.openxmlformats.org/drawingml/2006/main">
              <a:ext uri="{FF2B5EF4-FFF2-40B4-BE49-F238E27FC236}">
                <a16:creationId xmlns:a16="http://schemas.microsoft.com/office/drawing/2014/main" id="{1B7A6FBA-223D-4C26-B62E-77FEBAD9D841}"/>
              </a:ext>
            </a:extLst>
          </p:cNvPr>
          <p:cNvSpPr>
            <a:spLocks xmlns:a="http://schemas.openxmlformats.org/drawingml/2006/main" noGrp="1"/>
          </p:cNvSpPr>
          <p:nvPr/>
        </p:nvSpPr>
        <p:spPr>
          <a:xfrm xmlns:a="http://schemas.openxmlformats.org/drawingml/2006/main">
            <a:off x="6572250" y="21526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538"/>
                </a:solidFill>
                <a:latin typeface="Arial"/>
                <a:ea typeface="Arial"/>
                <a:cs typeface="Arial"/>
              </a:defRPr>
            </a:defPPr>
          </a:lstStyle>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Read text from two sources.</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Produce sentiment, an event type and an impact score.</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Use sentiment to change a mock index.</a:t>
            </a:r>
          </a:p>
        </p:txBody>
      </p:sp>
      <p:sp>
        <p:nvSpPr>
          <p:cNvPr id="7" name="">
            <a:extLst xmlns:a="http://schemas.openxmlformats.org/drawingml/2006/main">
              <a:ext uri="{FF2B5EF4-FFF2-40B4-BE49-F238E27FC236}">
                <a16:creationId xmlns:a16="http://schemas.microsoft.com/office/drawing/2014/main" id="{CF1F89BA-278E-4C53-B6CB-FDED242A3E73}"/>
              </a:ext>
            </a:extLst>
          </p:cNvPr>
          <p:cNvSpPr>
            <a:spLocks xmlns:a="http://schemas.openxmlformats.org/drawingml/2006/main" noGrp="1"/>
          </p:cNvSpPr>
          <p:nvPr/>
        </p:nvSpPr>
        <p:spPr>
          <a:xfrm xmlns:a="http://schemas.openxmlformats.org/drawingml/2006/main">
            <a:off x="666750" y="49720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Output for each item</a:t>
            </a:r>
          </a:p>
        </p:txBody>
      </p:sp>
      <p:sp>
        <p:nvSpPr>
          <p:cNvPr id="8" name="">
            <a:extLst xmlns:a="http://schemas.openxmlformats.org/drawingml/2006/main">
              <a:ext uri="{FF2B5EF4-FFF2-40B4-BE49-F238E27FC236}">
                <a16:creationId xmlns:a16="http://schemas.microsoft.com/office/drawing/2014/main" id="{075FDF6E-898A-42EA-B49F-F6387C3D9D1E}"/>
              </a:ext>
            </a:extLst>
          </p:cNvPr>
          <p:cNvSpPr>
            <a:spLocks xmlns:a="http://schemas.openxmlformats.org/drawingml/2006/main" noGrp="1"/>
          </p:cNvSpPr>
          <p:nvPr/>
        </p:nvSpPr>
        <p:spPr>
          <a:xfrm xmlns:a="http://schemas.openxmlformats.org/drawingml/2006/main">
            <a:off x="666750" y="5505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538"/>
                </a:solidFill>
                <a:latin typeface="Arial"/>
                <a:ea typeface="Arial"/>
                <a:cs typeface="Arial"/>
              </a:defRPr>
            </a:defPPr>
          </a:lstStyle>
          <a:p xmlns:a="http://schemas.openxmlformats.org/drawingml/2006/main">
            <a:pPr>
              <a:defRPr sz="1950" b="0">
                <a:solidFill>
                  <a:srgbClr val="142538"/>
                </a:solidFill>
                <a:latin typeface="Arial"/>
                <a:ea typeface="Arial"/>
                <a:cs typeface="Arial"/>
              </a:defRPr>
            </a:pPr>
            <a:r>
              <a:rPr sz="1950" b="0">
                <a:solidFill>
                  <a:srgbClr val="142538"/>
                </a:solidFill>
                <a:latin typeface="Arial"/>
                <a:ea typeface="Arial"/>
                <a:cs typeface="Arial"/>
              </a:rPr>
              <a:t>Company ticker     Sentiment: −1 to +1     Event type     Impact: 1 to 10</a:t>
            </a:r>
          </a:p>
        </p:txBody>
      </p:sp>
    </p:spTree>
    <p:extLst>
      <p:ext uri="{BB962C8B-B14F-4D97-AF65-F5344CB8AC3E}">
        <p14:creationId xmlns:p14="http://schemas.microsoft.com/office/powerpoint/2010/main" val="14129473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9CCC4CCB-FE50-4BF9-BA55-6EC98F44722C}"/>
              </a:ext>
            </a:extLst>
          </p:cNvPr>
          <p:cNvCxnSpPr>
            <a:stCxn xmlns:a="http://schemas.openxmlformats.org/drawingml/2006/main" id="8" idx="1"/>
            <a:endCxn xmlns:a="http://schemas.openxmlformats.org/drawingml/2006/main" id="9" idx="3"/>
          </p:cNvCxnSpPr>
          <p:nvPr/>
        </p:nvCxnSpPr>
        <p:spPr>
          <a:xfrm xmlns:a="http://schemas.openxmlformats.org/drawingml/2006/main" flipH="1">
            <a:off x="3048000" y="4714875"/>
            <a:ext cx="952500" cy="0"/>
          </a:xfrm>
          <a:prstGeom xmlns:a="http://schemas.openxmlformats.org/drawingml/2006/main" prst="straightConnector1">
            <a:avLst/>
          </a:prstGeom>
          <a:ln xmlns:a="http://schemas.openxmlformats.org/drawingml/2006/main" w="19050">
            <a:solidFill>
              <a:srgbClr val="4F6070"/>
            </a:solidFill>
            <a:tailEnd type="triangle" w="sm" len="sm"/>
          </a:ln>
        </p:spPr>
      </p:cxnSp>
      <p:cxnSp>
        <p:nvCxnSpPr>
          <p:cNvPr id="14" name="">
            <a:extLst xmlns:a="http://schemas.openxmlformats.org/drawingml/2006/main">
              <a:ext uri="{FF2B5EF4-FFF2-40B4-BE49-F238E27FC236}">
                <a16:creationId xmlns:a16="http://schemas.microsoft.com/office/drawing/2014/main" id="{E5BCE371-7E72-46AF-BF8C-E9E4F7087A32}"/>
              </a:ext>
            </a:extLst>
          </p:cNvPr>
          <p:cNvCxnSpPr>
            <a:stCxn xmlns:a="http://schemas.openxmlformats.org/drawingml/2006/main" id="7" idx="1"/>
            <a:endCxn xmlns:a="http://schemas.openxmlformats.org/drawingml/2006/main" id="8" idx="3"/>
          </p:cNvCxnSpPr>
          <p:nvPr/>
        </p:nvCxnSpPr>
        <p:spPr>
          <a:xfrm xmlns:a="http://schemas.openxmlformats.org/drawingml/2006/main" flipH="1">
            <a:off x="6953250" y="4714875"/>
            <a:ext cx="1333500" cy="0"/>
          </a:xfrm>
          <a:prstGeom xmlns:a="http://schemas.openxmlformats.org/drawingml/2006/main" prst="straightConnector1">
            <a:avLst/>
          </a:prstGeom>
          <a:ln xmlns:a="http://schemas.openxmlformats.org/drawingml/2006/main" w="19050">
            <a:solidFill>
              <a:srgbClr val="4F6070"/>
            </a:solidFill>
            <a:tailEnd type="triangle" w="sm" len="sm"/>
          </a:ln>
        </p:spPr>
      </p:cxnSp>
      <p:cxnSp>
        <p:nvCxnSpPr>
          <p:cNvPr id="13" name="">
            <a:extLst xmlns:a="http://schemas.openxmlformats.org/drawingml/2006/main">
              <a:ext uri="{FF2B5EF4-FFF2-40B4-BE49-F238E27FC236}">
                <a16:creationId xmlns:a16="http://schemas.microsoft.com/office/drawing/2014/main" id="{E41ED07E-FFDE-4FCF-8371-4839A090A14B}"/>
              </a:ext>
            </a:extLst>
          </p:cNvPr>
          <p:cNvCxnSpPr>
            <a:stCxn xmlns:a="http://schemas.openxmlformats.org/drawingml/2006/main" id="6" idx="2"/>
            <a:endCxn xmlns:a="http://schemas.openxmlformats.org/drawingml/2006/main" id="7" idx="0"/>
          </p:cNvCxnSpPr>
          <p:nvPr/>
        </p:nvCxnSpPr>
        <p:spPr>
          <a:xfrm xmlns:a="http://schemas.openxmlformats.org/drawingml/2006/main">
            <a:off x="9906000" y="3286125"/>
            <a:ext cx="0" cy="952500"/>
          </a:xfrm>
          <a:prstGeom xmlns:a="http://schemas.openxmlformats.org/drawingml/2006/main" prst="straightConnector1">
            <a:avLst/>
          </a:prstGeom>
          <a:ln xmlns:a="http://schemas.openxmlformats.org/drawingml/2006/main" w="19050">
            <a:solidFill>
              <a:srgbClr val="4F6070"/>
            </a:solidFill>
            <a:tailEnd type="triangle" w="sm" len="sm"/>
          </a:ln>
        </p:spPr>
      </p:cxnSp>
      <p:cxnSp>
        <p:nvCxnSpPr>
          <p:cNvPr id="12" name="">
            <a:extLst xmlns:a="http://schemas.openxmlformats.org/drawingml/2006/main">
              <a:ext uri="{FF2B5EF4-FFF2-40B4-BE49-F238E27FC236}">
                <a16:creationId xmlns:a16="http://schemas.microsoft.com/office/drawing/2014/main" id="{2C1A71D2-73B5-401C-9D8C-DE7938AE8551}"/>
              </a:ext>
            </a:extLst>
          </p:cNvPr>
          <p:cNvCxnSpPr>
            <a:stCxn xmlns:a="http://schemas.openxmlformats.org/drawingml/2006/main" id="5" idx="3"/>
            <a:endCxn xmlns:a="http://schemas.openxmlformats.org/drawingml/2006/main" id="6" idx="1"/>
          </p:cNvCxnSpPr>
          <p:nvPr/>
        </p:nvCxnSpPr>
        <p:spPr>
          <a:xfrm xmlns:a="http://schemas.openxmlformats.org/drawingml/2006/main">
            <a:off x="6953250" y="2714625"/>
            <a:ext cx="1333500" cy="0"/>
          </a:xfrm>
          <a:prstGeom xmlns:a="http://schemas.openxmlformats.org/drawingml/2006/main" prst="straightConnector1">
            <a:avLst/>
          </a:prstGeom>
          <a:ln xmlns:a="http://schemas.openxmlformats.org/drawingml/2006/main" w="19050">
            <a:solidFill>
              <a:srgbClr val="4F6070"/>
            </a:solidFill>
            <a:tailEnd type="triangle" w="sm" len="sm"/>
          </a:ln>
        </p:spPr>
      </p:cxnSp>
      <p:cxnSp>
        <p:nvCxnSpPr>
          <p:cNvPr id="11" name="">
            <a:extLst xmlns:a="http://schemas.openxmlformats.org/drawingml/2006/main">
              <a:ext uri="{FF2B5EF4-FFF2-40B4-BE49-F238E27FC236}">
                <a16:creationId xmlns:a16="http://schemas.microsoft.com/office/drawing/2014/main" id="{93C4A2CE-5763-4E20-9BA7-8B4269B23288}"/>
              </a:ext>
            </a:extLst>
          </p:cNvPr>
          <p:cNvCxnSpPr>
            <a:stCxn xmlns:a="http://schemas.openxmlformats.org/drawingml/2006/main" id="4" idx="3"/>
            <a:endCxn xmlns:a="http://schemas.openxmlformats.org/drawingml/2006/main" id="5" idx="1"/>
          </p:cNvCxnSpPr>
          <p:nvPr/>
        </p:nvCxnSpPr>
        <p:spPr>
          <a:xfrm xmlns:a="http://schemas.openxmlformats.org/drawingml/2006/main" flipV="1">
            <a:off x="3048000" y="2714625"/>
            <a:ext cx="952500" cy="619125"/>
          </a:xfrm>
          <a:prstGeom xmlns:a="http://schemas.openxmlformats.org/drawingml/2006/main" prst="bentConnector3">
            <a:avLst>
              <a:gd name="adj1" fmla="val 50000"/>
            </a:avLst>
          </a:prstGeom>
          <a:ln xmlns:a="http://schemas.openxmlformats.org/drawingml/2006/main" w="19050">
            <a:solidFill>
              <a:srgbClr val="4F6070"/>
            </a:solidFill>
            <a:tailEnd type="triangle" w="sm" len="sm"/>
          </a:ln>
        </p:spPr>
      </p:cxnSp>
      <p:cxnSp>
        <p:nvCxnSpPr>
          <p:cNvPr id="10" name="">
            <a:extLst xmlns:a="http://schemas.openxmlformats.org/drawingml/2006/main">
              <a:ext uri="{FF2B5EF4-FFF2-40B4-BE49-F238E27FC236}">
                <a16:creationId xmlns:a16="http://schemas.microsoft.com/office/drawing/2014/main" id="{302B54EE-7BDC-4628-A7AC-AEB3585E3AE3}"/>
              </a:ext>
            </a:extLst>
          </p:cNvPr>
          <p:cNvCxnSpPr>
            <a:stCxn xmlns:a="http://schemas.openxmlformats.org/drawingml/2006/main" id="3" idx="3"/>
            <a:endCxn xmlns:a="http://schemas.openxmlformats.org/drawingml/2006/main" id="5" idx="1"/>
          </p:cNvCxnSpPr>
          <p:nvPr/>
        </p:nvCxnSpPr>
        <p:spPr>
          <a:xfrm xmlns:a="http://schemas.openxmlformats.org/drawingml/2006/main">
            <a:off x="3048000" y="2143125"/>
            <a:ext cx="952500" cy="571500"/>
          </a:xfrm>
          <a:prstGeom xmlns:a="http://schemas.openxmlformats.org/drawingml/2006/main" prst="bentConnector3">
            <a:avLst>
              <a:gd name="adj1" fmla="val 50000"/>
            </a:avLst>
          </a:prstGeom>
          <a:ln xmlns:a="http://schemas.openxmlformats.org/drawingml/2006/main" w="19050">
            <a:solidFill>
              <a:srgbClr val="4F6070"/>
            </a:solidFill>
            <a:tailEnd type="triangle" w="sm" len="sm"/>
          </a:ln>
        </p:spPr>
      </p:cxnSp>
      <p:sp>
        <p:nvSpPr>
          <p:cNvPr id="17" name="">
            <a:extLst xmlns:a="http://schemas.openxmlformats.org/drawingml/2006/main">
              <a:ext uri="{FF2B5EF4-FFF2-40B4-BE49-F238E27FC236}">
                <a16:creationId xmlns:a16="http://schemas.microsoft.com/office/drawing/2014/main" id="{5E16887F-4591-40FB-AC69-22878C39AFD2}"/>
              </a:ext>
            </a:extLst>
          </p:cNvPr>
          <p:cNvSpPr>
            <a:spLocks xmlns:a="http://schemas.openxmlformats.org/drawingml/2006/main" noGrp="1"/>
          </p:cNvSpPr>
          <p:nvPr/>
        </p:nvSpPr>
        <p:spPr>
          <a:xfrm xmlns:a="http://schemas.openxmlformats.org/drawingml/2006/main">
            <a:off x="666750" y="523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538"/>
                </a:solidFill>
                <a:latin typeface="Arial"/>
                <a:ea typeface="Arial"/>
                <a:cs typeface="Arial"/>
              </a:defRPr>
            </a:defPPr>
          </a:lstStyle>
          <a:p xmlns:a="http://schemas.openxmlformats.org/drawingml/2006/main">
            <a:pPr>
              <a:defRPr sz="3300" b="1">
                <a:solidFill>
                  <a:srgbClr val="142538"/>
                </a:solidFill>
                <a:latin typeface="Arial"/>
                <a:ea typeface="Arial"/>
                <a:cs typeface="Arial"/>
              </a:defRPr>
            </a:pPr>
            <a:r>
              <a:rPr sz="3300" b="1">
                <a:solidFill>
                  <a:srgbClr val="142538"/>
                </a:solidFill>
                <a:latin typeface="Arial"/>
                <a:ea typeface="Arial"/>
                <a:cs typeface="Arial"/>
              </a:rPr>
              <a:t>System design</a:t>
            </a:r>
          </a:p>
        </p:txBody>
      </p:sp>
      <p:sp>
        <p:nvSpPr>
          <p:cNvPr id="2" name="">
            <a:extLst xmlns:a="http://schemas.openxmlformats.org/drawingml/2006/main">
              <a:ext uri="{FF2B5EF4-FFF2-40B4-BE49-F238E27FC236}">
                <a16:creationId xmlns:a16="http://schemas.microsoft.com/office/drawing/2014/main" id="{FA5DE06F-377D-4C40-969B-8E37BA1F66C9}"/>
              </a:ext>
            </a:extLst>
          </p:cNvPr>
          <p:cNvSpPr>
            <a:spLocks xmlns:a="http://schemas.openxmlformats.org/drawingml/2006/main" noGrp="1"/>
          </p:cNvSpPr>
          <p:nvPr/>
        </p:nvSpPr>
        <p:spPr>
          <a:xfrm xmlns:a="http://schemas.openxmlformats.org/drawingml/2006/main">
            <a:off x="10953750" y="637222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F6070"/>
                </a:solidFill>
                <a:latin typeface="Arial"/>
                <a:ea typeface="Arial"/>
                <a:cs typeface="Arial"/>
              </a:defRPr>
            </a:defPPr>
          </a:lstStyle>
          <a:p xmlns:a="http://schemas.openxmlformats.org/drawingml/2006/main">
            <a:pPr>
              <a:defRPr sz="1350" b="0">
                <a:solidFill>
                  <a:srgbClr val="4F6070"/>
                </a:solidFill>
                <a:latin typeface="Arial"/>
                <a:ea typeface="Arial"/>
                <a:cs typeface="Arial"/>
              </a:defRPr>
            </a:pPr>
            <a:r>
              <a:rPr sz="1350" b="0">
                <a:solidFill>
                  <a:srgbClr val="4F6070"/>
                </a:solidFill>
                <a:latin typeface="Arial"/>
                <a:ea typeface="Arial"/>
                <a:cs typeface="Arial"/>
              </a:rPr>
              <a:t>3 / 7</a:t>
            </a:r>
          </a:p>
        </p:txBody>
      </p:sp>
      <p:sp>
        <p:nvSpPr>
          <p:cNvPr id="3" name="">
            <a:extLst xmlns:a="http://schemas.openxmlformats.org/drawingml/2006/main">
              <a:ext uri="{FF2B5EF4-FFF2-40B4-BE49-F238E27FC236}">
                <a16:creationId xmlns:a16="http://schemas.microsoft.com/office/drawing/2014/main" id="{5AE1A20C-93B7-4EFE-9C45-147BBA8B2224}"/>
              </a:ext>
            </a:extLst>
          </p:cNvPr>
          <p:cNvSpPr>
            <a:spLocks xmlns:a="http://schemas.openxmlformats.org/drawingml/2006/main" noGrp="1"/>
          </p:cNvSpPr>
          <p:nvPr/>
        </p:nvSpPr>
        <p:spPr>
          <a:xfrm xmlns:a="http://schemas.openxmlformats.org/drawingml/2006/main">
            <a:off x="666750" y="1762125"/>
            <a:ext cx="2381250" cy="762000"/>
          </a:xfrm>
          <a:prstGeom xmlns:a="http://schemas.openxmlformats.org/drawingml/2006/main" prst="rect">
            <a:avLst/>
          </a:prstGeom>
          <a:solidFill xmlns:a="http://schemas.openxmlformats.org/drawingml/2006/main">
            <a:srgbClr val="F4F6F8"/>
          </a:solidFill>
          <a:ln xmlns:a="http://schemas.openxmlformats.org/drawingml/2006/main" w="9525">
            <a:solidFill>
              <a:srgbClr val="9CAAB7"/>
            </a:solidFill>
          </a:ln>
        </p:spPr>
        <p:txBody>
          <a:bodyPr xmlns:a="http://schemas.openxmlformats.org/drawingml/2006/main" lIns="171450" tIns="171450" rIns="171450" bIns="171450"/>
          <a:lstStyle xmlns:a="http://schemas.openxmlformats.org/drawingml/2006/main">
            <a:defPPr>
              <a:defRPr sz="1950" b="1">
                <a:solidFill>
                  <a:srgbClr val="142538"/>
                </a:solidFill>
                <a:latin typeface="Arial"/>
                <a:ea typeface="Arial"/>
                <a:cs typeface="Arial"/>
              </a:defRPr>
            </a:defPPr>
          </a:lstStyle>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News headlines</a:t>
            </a:r>
          </a:p>
        </p:txBody>
      </p:sp>
      <p:sp>
        <p:nvSpPr>
          <p:cNvPr id="4" name="">
            <a:extLst xmlns:a="http://schemas.openxmlformats.org/drawingml/2006/main">
              <a:ext uri="{FF2B5EF4-FFF2-40B4-BE49-F238E27FC236}">
                <a16:creationId xmlns:a16="http://schemas.microsoft.com/office/drawing/2014/main" id="{4251F7A5-E1E8-497B-B8FC-897C9FF035D6}"/>
              </a:ext>
            </a:extLst>
          </p:cNvPr>
          <p:cNvSpPr>
            <a:spLocks xmlns:a="http://schemas.openxmlformats.org/drawingml/2006/main" noGrp="1"/>
          </p:cNvSpPr>
          <p:nvPr/>
        </p:nvSpPr>
        <p:spPr>
          <a:xfrm xmlns:a="http://schemas.openxmlformats.org/drawingml/2006/main">
            <a:off x="666750" y="2952750"/>
            <a:ext cx="2381250" cy="762000"/>
          </a:xfrm>
          <a:prstGeom xmlns:a="http://schemas.openxmlformats.org/drawingml/2006/main" prst="rect">
            <a:avLst/>
          </a:prstGeom>
          <a:solidFill xmlns:a="http://schemas.openxmlformats.org/drawingml/2006/main">
            <a:srgbClr val="F4F6F8"/>
          </a:solidFill>
          <a:ln xmlns:a="http://schemas.openxmlformats.org/drawingml/2006/main" w="9525">
            <a:solidFill>
              <a:srgbClr val="9CAAB7"/>
            </a:solidFill>
          </a:ln>
        </p:spPr>
        <p:txBody>
          <a:bodyPr xmlns:a="http://schemas.openxmlformats.org/drawingml/2006/main" lIns="171450" tIns="171450" rIns="171450" bIns="171450"/>
          <a:lstStyle xmlns:a="http://schemas.openxmlformats.org/drawingml/2006/main">
            <a:defPPr>
              <a:defRPr sz="1950" b="1">
                <a:solidFill>
                  <a:srgbClr val="142538"/>
                </a:solidFill>
                <a:latin typeface="Arial"/>
                <a:ea typeface="Arial"/>
                <a:cs typeface="Arial"/>
              </a:defRPr>
            </a:defPPr>
          </a:lstStyle>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Social posts</a:t>
            </a:r>
          </a:p>
        </p:txBody>
      </p:sp>
      <p:sp>
        <p:nvSpPr>
          <p:cNvPr id="5" name="">
            <a:extLst xmlns:a="http://schemas.openxmlformats.org/drawingml/2006/main">
              <a:ext uri="{FF2B5EF4-FFF2-40B4-BE49-F238E27FC236}">
                <a16:creationId xmlns:a16="http://schemas.microsoft.com/office/drawing/2014/main" id="{8D35E78F-A07B-44BA-9881-4844DC0C68F9}"/>
              </a:ext>
            </a:extLst>
          </p:cNvPr>
          <p:cNvSpPr>
            <a:spLocks xmlns:a="http://schemas.openxmlformats.org/drawingml/2006/main" noGrp="1"/>
          </p:cNvSpPr>
          <p:nvPr/>
        </p:nvSpPr>
        <p:spPr>
          <a:xfrm xmlns:a="http://schemas.openxmlformats.org/drawingml/2006/main">
            <a:off x="4000500" y="2143125"/>
            <a:ext cx="2952750" cy="1143000"/>
          </a:xfrm>
          <a:prstGeom xmlns:a="http://schemas.openxmlformats.org/drawingml/2006/main" prst="rect">
            <a:avLst/>
          </a:prstGeom>
          <a:solidFill xmlns:a="http://schemas.openxmlformats.org/drawingml/2006/main">
            <a:srgbClr val="F4F6F8"/>
          </a:solidFill>
          <a:ln xmlns:a="http://schemas.openxmlformats.org/drawingml/2006/main" w="9525">
            <a:solidFill>
              <a:srgbClr val="9CAAB7"/>
            </a:solidFill>
          </a:ln>
        </p:spPr>
        <p:txBody>
          <a:bodyPr xmlns:a="http://schemas.openxmlformats.org/drawingml/2006/main" lIns="171450" tIns="171450" rIns="171450" bIns="171450"/>
          <a:lstStyle xmlns:a="http://schemas.openxmlformats.org/drawingml/2006/main">
            <a:defPPr>
              <a:defRPr sz="1950" b="1">
                <a:solidFill>
                  <a:srgbClr val="142538"/>
                </a:solidFill>
                <a:latin typeface="Arial"/>
                <a:ea typeface="Arial"/>
                <a:cs typeface="Arial"/>
              </a:defRPr>
            </a:defPPr>
          </a:lstStyle>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Prepare text</a:t>
            </a:r>
          </a:p>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and match ticker</a:t>
            </a:r>
          </a:p>
        </p:txBody>
      </p:sp>
      <p:sp>
        <p:nvSpPr>
          <p:cNvPr id="6" name="">
            <a:extLst xmlns:a="http://schemas.openxmlformats.org/drawingml/2006/main">
              <a:ext uri="{FF2B5EF4-FFF2-40B4-BE49-F238E27FC236}">
                <a16:creationId xmlns:a16="http://schemas.microsoft.com/office/drawing/2014/main" id="{81CD9EC0-5AD9-4500-BC24-A444192F113A}"/>
              </a:ext>
            </a:extLst>
          </p:cNvPr>
          <p:cNvSpPr>
            <a:spLocks xmlns:a="http://schemas.openxmlformats.org/drawingml/2006/main" noGrp="1"/>
          </p:cNvSpPr>
          <p:nvPr/>
        </p:nvSpPr>
        <p:spPr>
          <a:xfrm xmlns:a="http://schemas.openxmlformats.org/drawingml/2006/main">
            <a:off x="8286750" y="2143125"/>
            <a:ext cx="3238500" cy="1143000"/>
          </a:xfrm>
          <a:prstGeom xmlns:a="http://schemas.openxmlformats.org/drawingml/2006/main" prst="rect">
            <a:avLst/>
          </a:prstGeom>
          <a:solidFill xmlns:a="http://schemas.openxmlformats.org/drawingml/2006/main">
            <a:srgbClr val="F4F6F8"/>
          </a:solidFill>
          <a:ln xmlns:a="http://schemas.openxmlformats.org/drawingml/2006/main" w="9525">
            <a:solidFill>
              <a:srgbClr val="9CAAB7"/>
            </a:solidFill>
          </a:ln>
        </p:spPr>
        <p:txBody>
          <a:bodyPr xmlns:a="http://schemas.openxmlformats.org/drawingml/2006/main" lIns="171450" tIns="171450" rIns="171450" bIns="171450"/>
          <a:lstStyle xmlns:a="http://schemas.openxmlformats.org/drawingml/2006/main">
            <a:defPPr>
              <a:defRPr sz="1950" b="1">
                <a:solidFill>
                  <a:srgbClr val="142538"/>
                </a:solidFill>
                <a:latin typeface="Arial"/>
                <a:ea typeface="Arial"/>
                <a:cs typeface="Arial"/>
              </a:defRPr>
            </a:defPPr>
          </a:lstStyle>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Sentiment model</a:t>
            </a:r>
          </a:p>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Event and impact rules</a:t>
            </a:r>
          </a:p>
        </p:txBody>
      </p:sp>
      <p:sp>
        <p:nvSpPr>
          <p:cNvPr id="7" name="">
            <a:extLst xmlns:a="http://schemas.openxmlformats.org/drawingml/2006/main">
              <a:ext uri="{FF2B5EF4-FFF2-40B4-BE49-F238E27FC236}">
                <a16:creationId xmlns:a16="http://schemas.microsoft.com/office/drawing/2014/main" id="{44F9E0CD-C41B-442E-8585-25A7783C1991}"/>
              </a:ext>
            </a:extLst>
          </p:cNvPr>
          <p:cNvSpPr>
            <a:spLocks xmlns:a="http://schemas.openxmlformats.org/drawingml/2006/main" noGrp="1"/>
          </p:cNvSpPr>
          <p:nvPr/>
        </p:nvSpPr>
        <p:spPr>
          <a:xfrm xmlns:a="http://schemas.openxmlformats.org/drawingml/2006/main">
            <a:off x="8286750" y="4238625"/>
            <a:ext cx="3238500" cy="952500"/>
          </a:xfrm>
          <a:prstGeom xmlns:a="http://schemas.openxmlformats.org/drawingml/2006/main" prst="rect">
            <a:avLst/>
          </a:prstGeom>
          <a:solidFill xmlns:a="http://schemas.openxmlformats.org/drawingml/2006/main">
            <a:srgbClr val="F4F6F8"/>
          </a:solidFill>
          <a:ln xmlns:a="http://schemas.openxmlformats.org/drawingml/2006/main" w="9525">
            <a:solidFill>
              <a:srgbClr val="9CAAB7"/>
            </a:solidFill>
          </a:ln>
        </p:spPr>
        <p:txBody>
          <a:bodyPr xmlns:a="http://schemas.openxmlformats.org/drawingml/2006/main" lIns="171450" tIns="171450" rIns="171450" bIns="171450"/>
          <a:lstStyle xmlns:a="http://schemas.openxmlformats.org/drawingml/2006/main">
            <a:defPPr>
              <a:defRPr sz="1950" b="1">
                <a:solidFill>
                  <a:srgbClr val="142538"/>
                </a:solidFill>
                <a:latin typeface="Arial"/>
                <a:ea typeface="Arial"/>
                <a:cs typeface="Arial"/>
              </a:defRPr>
            </a:defPPr>
          </a:lstStyle>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Risk signals</a:t>
            </a:r>
          </a:p>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JSONL file</a:t>
            </a:r>
          </a:p>
        </p:txBody>
      </p:sp>
      <p:sp>
        <p:nvSpPr>
          <p:cNvPr id="8" name="">
            <a:extLst xmlns:a="http://schemas.openxmlformats.org/drawingml/2006/main">
              <a:ext uri="{FF2B5EF4-FFF2-40B4-BE49-F238E27FC236}">
                <a16:creationId xmlns:a16="http://schemas.microsoft.com/office/drawing/2014/main" id="{867F3EF0-FB76-4CA6-B655-7EB560B69231}"/>
              </a:ext>
            </a:extLst>
          </p:cNvPr>
          <p:cNvSpPr>
            <a:spLocks xmlns:a="http://schemas.openxmlformats.org/drawingml/2006/main" noGrp="1"/>
          </p:cNvSpPr>
          <p:nvPr/>
        </p:nvSpPr>
        <p:spPr>
          <a:xfrm xmlns:a="http://schemas.openxmlformats.org/drawingml/2006/main">
            <a:off x="4000500" y="4238625"/>
            <a:ext cx="2952750" cy="952500"/>
          </a:xfrm>
          <a:prstGeom xmlns:a="http://schemas.openxmlformats.org/drawingml/2006/main" prst="rect">
            <a:avLst/>
          </a:prstGeom>
          <a:solidFill xmlns:a="http://schemas.openxmlformats.org/drawingml/2006/main">
            <a:srgbClr val="F4F6F8"/>
          </a:solidFill>
          <a:ln xmlns:a="http://schemas.openxmlformats.org/drawingml/2006/main" w="9525">
            <a:solidFill>
              <a:srgbClr val="9CAAB7"/>
            </a:solidFill>
          </a:ln>
        </p:spPr>
        <p:txBody>
          <a:bodyPr xmlns:a="http://schemas.openxmlformats.org/drawingml/2006/main" lIns="171450" tIns="171450" rIns="171450" bIns="171450"/>
          <a:lstStyle xmlns:a="http://schemas.openxmlformats.org/drawingml/2006/main">
            <a:defPPr>
              <a:defRPr sz="1950" b="1">
                <a:solidFill>
                  <a:srgbClr val="142538"/>
                </a:solidFill>
                <a:latin typeface="Arial"/>
                <a:ea typeface="Arial"/>
                <a:cs typeface="Arial"/>
              </a:defRPr>
            </a:defPPr>
          </a:lstStyle>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Index weights</a:t>
            </a:r>
          </a:p>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CSV files</a:t>
            </a:r>
          </a:p>
        </p:txBody>
      </p:sp>
      <p:sp>
        <p:nvSpPr>
          <p:cNvPr id="9" name="">
            <a:extLst xmlns:a="http://schemas.openxmlformats.org/drawingml/2006/main">
              <a:ext uri="{FF2B5EF4-FFF2-40B4-BE49-F238E27FC236}">
                <a16:creationId xmlns:a16="http://schemas.microsoft.com/office/drawing/2014/main" id="{085CDDC6-F34C-4AF6-87A5-2580530AB326}"/>
              </a:ext>
            </a:extLst>
          </p:cNvPr>
          <p:cNvSpPr>
            <a:spLocks xmlns:a="http://schemas.openxmlformats.org/drawingml/2006/main" noGrp="1"/>
          </p:cNvSpPr>
          <p:nvPr/>
        </p:nvSpPr>
        <p:spPr>
          <a:xfrm xmlns:a="http://schemas.openxmlformats.org/drawingml/2006/main">
            <a:off x="666750" y="4238625"/>
            <a:ext cx="2381250" cy="952500"/>
          </a:xfrm>
          <a:prstGeom xmlns:a="http://schemas.openxmlformats.org/drawingml/2006/main" prst="rect">
            <a:avLst/>
          </a:prstGeom>
          <a:solidFill xmlns:a="http://schemas.openxmlformats.org/drawingml/2006/main">
            <a:srgbClr val="F4F6F8"/>
          </a:solidFill>
          <a:ln xmlns:a="http://schemas.openxmlformats.org/drawingml/2006/main" w="9525">
            <a:solidFill>
              <a:srgbClr val="9CAAB7"/>
            </a:solidFill>
          </a:ln>
        </p:spPr>
        <p:txBody>
          <a:bodyPr xmlns:a="http://schemas.openxmlformats.org/drawingml/2006/main" lIns="171450" tIns="171450" rIns="171450" bIns="171450"/>
          <a:lstStyle xmlns:a="http://schemas.openxmlformats.org/drawingml/2006/main">
            <a:defPPr>
              <a:defRPr sz="1950" b="1">
                <a:solidFill>
                  <a:srgbClr val="142538"/>
                </a:solidFill>
                <a:latin typeface="Arial"/>
                <a:ea typeface="Arial"/>
                <a:cs typeface="Arial"/>
              </a:defRPr>
            </a:defPPr>
          </a:lstStyle>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Streamlit</a:t>
            </a:r>
          </a:p>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dashboard</a:t>
            </a:r>
          </a:p>
        </p:txBody>
      </p:sp>
      <p:sp>
        <p:nvSpPr>
          <p:cNvPr id="16" name="">
            <a:extLst xmlns:a="http://schemas.openxmlformats.org/drawingml/2006/main">
              <a:ext uri="{FF2B5EF4-FFF2-40B4-BE49-F238E27FC236}">
                <a16:creationId xmlns:a16="http://schemas.microsoft.com/office/drawing/2014/main" id="{93CB551B-2AE9-41C3-B9FB-1885E819EA29}"/>
              </a:ext>
            </a:extLst>
          </p:cNvPr>
          <p:cNvSpPr>
            <a:spLocks xmlns:a="http://schemas.openxmlformats.org/drawingml/2006/main" noGrp="1"/>
          </p:cNvSpPr>
          <p:nvPr/>
        </p:nvSpPr>
        <p:spPr>
          <a:xfrm xmlns:a="http://schemas.openxmlformats.org/drawingml/2006/main">
            <a:off x="666750" y="56292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538"/>
                </a:solidFill>
                <a:latin typeface="Arial"/>
                <a:ea typeface="Arial"/>
                <a:cs typeface="Arial"/>
              </a:defRPr>
            </a:defPPr>
          </a:lstStyle>
          <a:p xmlns:a="http://schemas.openxmlformats.org/drawingml/2006/main">
            <a:pPr>
              <a:defRPr sz="1950" b="0">
                <a:solidFill>
                  <a:srgbClr val="142538"/>
                </a:solidFill>
                <a:latin typeface="Arial"/>
                <a:ea typeface="Arial"/>
                <a:cs typeface="Arial"/>
              </a:defRPr>
            </a:pPr>
            <a:r>
              <a:rPr sz="1950" b="0">
                <a:solidFill>
                  <a:srgbClr val="142538"/>
                </a:solidFill>
                <a:latin typeface="Arial"/>
                <a:ea typeface="Arial"/>
                <a:cs typeface="Arial"/>
              </a:rPr>
              <a:t>The dashboard also accepts one new text item for a temporary simulation.</a:t>
            </a:r>
          </a:p>
        </p:txBody>
      </p:sp>
    </p:spTree>
    <p:extLst>
      <p:ext uri="{BB962C8B-B14F-4D97-AF65-F5344CB8AC3E}">
        <p14:creationId xmlns:p14="http://schemas.microsoft.com/office/powerpoint/2010/main" val="18229623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940E253-9549-4E43-A7F6-C15B8C2B6169}"/>
              </a:ext>
            </a:extLst>
          </p:cNvPr>
          <p:cNvSpPr>
            <a:spLocks xmlns:a="http://schemas.openxmlformats.org/drawingml/2006/main" noGrp="1"/>
          </p:cNvSpPr>
          <p:nvPr/>
        </p:nvSpPr>
        <p:spPr>
          <a:xfrm xmlns:a="http://schemas.openxmlformats.org/drawingml/2006/main">
            <a:off x="666750" y="523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538"/>
                </a:solidFill>
                <a:latin typeface="Arial"/>
                <a:ea typeface="Arial"/>
                <a:cs typeface="Arial"/>
              </a:defRPr>
            </a:defPPr>
          </a:lstStyle>
          <a:p xmlns:a="http://schemas.openxmlformats.org/drawingml/2006/main">
            <a:pPr>
              <a:defRPr sz="3300" b="1">
                <a:solidFill>
                  <a:srgbClr val="142538"/>
                </a:solidFill>
                <a:latin typeface="Arial"/>
                <a:ea typeface="Arial"/>
                <a:cs typeface="Arial"/>
              </a:defRPr>
            </a:pPr>
            <a:r>
              <a:rPr sz="3300" b="1">
                <a:solidFill>
                  <a:srgbClr val="142538"/>
                </a:solidFill>
                <a:latin typeface="Arial"/>
                <a:ea typeface="Arial"/>
                <a:cs typeface="Arial"/>
              </a:rPr>
              <a:t>Implementation</a:t>
            </a:r>
          </a:p>
        </p:txBody>
      </p:sp>
      <p:sp>
        <p:nvSpPr>
          <p:cNvPr id="2" name="">
            <a:extLst xmlns:a="http://schemas.openxmlformats.org/drawingml/2006/main">
              <a:ext uri="{FF2B5EF4-FFF2-40B4-BE49-F238E27FC236}">
                <a16:creationId xmlns:a16="http://schemas.microsoft.com/office/drawing/2014/main" id="{70735294-4C39-4E60-AAEA-31D7E22B4EDA}"/>
              </a:ext>
            </a:extLst>
          </p:cNvPr>
          <p:cNvSpPr>
            <a:spLocks xmlns:a="http://schemas.openxmlformats.org/drawingml/2006/main" noGrp="1"/>
          </p:cNvSpPr>
          <p:nvPr/>
        </p:nvSpPr>
        <p:spPr>
          <a:xfrm xmlns:a="http://schemas.openxmlformats.org/drawingml/2006/main">
            <a:off x="10953750" y="637222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F6070"/>
                </a:solidFill>
                <a:latin typeface="Arial"/>
                <a:ea typeface="Arial"/>
                <a:cs typeface="Arial"/>
              </a:defRPr>
            </a:defPPr>
          </a:lstStyle>
          <a:p xmlns:a="http://schemas.openxmlformats.org/drawingml/2006/main">
            <a:pPr>
              <a:defRPr sz="1350" b="0">
                <a:solidFill>
                  <a:srgbClr val="4F6070"/>
                </a:solidFill>
                <a:latin typeface="Arial"/>
                <a:ea typeface="Arial"/>
                <a:cs typeface="Arial"/>
              </a:defRPr>
            </a:pPr>
            <a:r>
              <a:rPr sz="1350" b="0">
                <a:solidFill>
                  <a:srgbClr val="4F6070"/>
                </a:solidFill>
                <a:latin typeface="Arial"/>
                <a:ea typeface="Arial"/>
                <a:cs typeface="Arial"/>
              </a:rPr>
              <a:t>4 / 7</a:t>
            </a:r>
          </a:p>
        </p:txBody>
      </p:sp>
      <p:sp>
        <p:nvSpPr>
          <p:cNvPr id="3" name="">
            <a:extLst xmlns:a="http://schemas.openxmlformats.org/drawingml/2006/main">
              <a:ext uri="{FF2B5EF4-FFF2-40B4-BE49-F238E27FC236}">
                <a16:creationId xmlns:a16="http://schemas.microsoft.com/office/drawing/2014/main" id="{2898D28F-5293-4676-98E1-1E094CF1BD74}"/>
              </a:ext>
            </a:extLst>
          </p:cNvPr>
          <p:cNvSpPr>
            <a:spLocks xmlns:a="http://schemas.openxmlformats.org/drawingml/2006/main" noGrp="1"/>
          </p:cNvSpPr>
          <p:nvPr/>
        </p:nvSpPr>
        <p:spPr>
          <a:xfrm xmlns:a="http://schemas.openxmlformats.org/drawingml/2006/main">
            <a:off x="666750" y="15716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Text and model</a:t>
            </a:r>
          </a:p>
        </p:txBody>
      </p:sp>
      <p:sp>
        <p:nvSpPr>
          <p:cNvPr id="4" name="">
            <a:extLst xmlns:a="http://schemas.openxmlformats.org/drawingml/2006/main">
              <a:ext uri="{FF2B5EF4-FFF2-40B4-BE49-F238E27FC236}">
                <a16:creationId xmlns:a16="http://schemas.microsoft.com/office/drawing/2014/main" id="{3E731781-9C3A-4DE1-AE72-158F2F11A6C8}"/>
              </a:ext>
            </a:extLst>
          </p:cNvPr>
          <p:cNvSpPr>
            <a:spLocks xmlns:a="http://schemas.openxmlformats.org/drawingml/2006/main" noGrp="1"/>
          </p:cNvSpPr>
          <p:nvPr/>
        </p:nvSpPr>
        <p:spPr>
          <a:xfrm xmlns:a="http://schemas.openxmlformats.org/drawingml/2006/main">
            <a:off x="666750" y="2105025"/>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538"/>
                </a:solidFill>
                <a:latin typeface="Arial"/>
                <a:ea typeface="Arial"/>
                <a:cs typeface="Arial"/>
              </a:defRPr>
            </a:defPPr>
          </a:lstStyle>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Historical financial posts and 10 source-linked news samples.</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TF-IDF turns words into numbers. Logistic regression predicts bearish, bullish or neutral.</a:t>
            </a:r>
          </a:p>
        </p:txBody>
      </p:sp>
      <p:sp>
        <p:nvSpPr>
          <p:cNvPr id="5" name="">
            <a:extLst xmlns:a="http://schemas.openxmlformats.org/drawingml/2006/main">
              <a:ext uri="{FF2B5EF4-FFF2-40B4-BE49-F238E27FC236}">
                <a16:creationId xmlns:a16="http://schemas.microsoft.com/office/drawing/2014/main" id="{63C42620-93D7-46EB-B308-27A841F235CC}"/>
              </a:ext>
            </a:extLst>
          </p:cNvPr>
          <p:cNvSpPr>
            <a:spLocks xmlns:a="http://schemas.openxmlformats.org/drawingml/2006/main" noGrp="1"/>
          </p:cNvSpPr>
          <p:nvPr/>
        </p:nvSpPr>
        <p:spPr>
          <a:xfrm xmlns:a="http://schemas.openxmlformats.org/drawingml/2006/main">
            <a:off x="6572250" y="15716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Events and weights</a:t>
            </a:r>
          </a:p>
        </p:txBody>
      </p:sp>
      <p:sp>
        <p:nvSpPr>
          <p:cNvPr id="6" name="">
            <a:extLst xmlns:a="http://schemas.openxmlformats.org/drawingml/2006/main">
              <a:ext uri="{FF2B5EF4-FFF2-40B4-BE49-F238E27FC236}">
                <a16:creationId xmlns:a16="http://schemas.microsoft.com/office/drawing/2014/main" id="{67FA5583-492A-4002-AED7-E7057D855574}"/>
              </a:ext>
            </a:extLst>
          </p:cNvPr>
          <p:cNvSpPr>
            <a:spLocks xmlns:a="http://schemas.openxmlformats.org/drawingml/2006/main" noGrp="1"/>
          </p:cNvSpPr>
          <p:nvPr/>
        </p:nvSpPr>
        <p:spPr>
          <a:xfrm xmlns:a="http://schemas.openxmlformats.org/drawingml/2006/main">
            <a:off x="6572250" y="2105025"/>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538"/>
                </a:solidFill>
                <a:latin typeface="Arial"/>
                <a:ea typeface="Arial"/>
                <a:cs typeface="Arial"/>
              </a:defRPr>
            </a:defPPr>
          </a:lstStyle>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Keyword rules assign an event type. Fixed rules give an impact score.</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The index starts with 10 stocks at 10% each. Only recognized events enter rebalancing.</a:t>
            </a:r>
          </a:p>
        </p:txBody>
      </p:sp>
      <p:sp>
        <p:nvSpPr>
          <p:cNvPr id="7" name="">
            <a:extLst xmlns:a="http://schemas.openxmlformats.org/drawingml/2006/main">
              <a:ext uri="{FF2B5EF4-FFF2-40B4-BE49-F238E27FC236}">
                <a16:creationId xmlns:a16="http://schemas.microsoft.com/office/drawing/2014/main" id="{A01F74C1-6B16-408F-8FD4-73B99E50C72E}"/>
              </a:ext>
            </a:extLst>
          </p:cNvPr>
          <p:cNvSpPr>
            <a:spLocks xmlns:a="http://schemas.openxmlformats.org/drawingml/2006/main" noGrp="1"/>
          </p:cNvSpPr>
          <p:nvPr/>
        </p:nvSpPr>
        <p:spPr>
          <a:xfrm xmlns:a="http://schemas.openxmlformats.org/drawingml/2006/main">
            <a:off x="666750" y="45243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Weight calculation</a:t>
            </a:r>
          </a:p>
        </p:txBody>
      </p:sp>
      <p:sp>
        <p:nvSpPr>
          <p:cNvPr id="8" name="">
            <a:extLst xmlns:a="http://schemas.openxmlformats.org/drawingml/2006/main">
              <a:ext uri="{FF2B5EF4-FFF2-40B4-BE49-F238E27FC236}">
                <a16:creationId xmlns:a16="http://schemas.microsoft.com/office/drawing/2014/main" id="{1CF68DAD-E5B5-4D0C-8EFE-1586D4FF46CD}"/>
              </a:ext>
            </a:extLst>
          </p:cNvPr>
          <p:cNvSpPr>
            <a:spLocks xmlns:a="http://schemas.openxmlformats.org/drawingml/2006/main" noGrp="1"/>
          </p:cNvSpPr>
          <p:nvPr/>
        </p:nvSpPr>
        <p:spPr>
          <a:xfrm xmlns:a="http://schemas.openxmlformats.org/drawingml/2006/main">
            <a:off x="666750" y="50673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42538"/>
                </a:solidFill>
                <a:latin typeface="Arial"/>
                <a:ea typeface="Arial"/>
                <a:cs typeface="Arial"/>
              </a:defRPr>
            </a:defPPr>
          </a:lstStyle>
          <a:p xmlns:a="http://schemas.openxmlformats.org/drawingml/2006/main">
            <a:pPr>
              <a:defRPr sz="2100" b="1">
                <a:solidFill>
                  <a:srgbClr val="142538"/>
                </a:solidFill>
                <a:latin typeface="Arial"/>
                <a:ea typeface="Arial"/>
                <a:cs typeface="Arial"/>
              </a:defRPr>
            </a:pPr>
            <a:r>
              <a:rPr sz="2100" b="1">
                <a:solidFill>
                  <a:srgbClr val="142538"/>
                </a:solidFill>
                <a:latin typeface="Arial"/>
                <a:ea typeface="Arial"/>
                <a:cs typeface="Arial"/>
              </a:rPr>
              <a:t>Desired change = 0.2 × starting weight × average sentiment</a:t>
            </a:r>
          </a:p>
        </p:txBody>
      </p:sp>
      <p:sp>
        <p:nvSpPr>
          <p:cNvPr id="9" name="">
            <a:extLst xmlns:a="http://schemas.openxmlformats.org/drawingml/2006/main">
              <a:ext uri="{FF2B5EF4-FFF2-40B4-BE49-F238E27FC236}">
                <a16:creationId xmlns:a16="http://schemas.microsoft.com/office/drawing/2014/main" id="{038C8F67-AAFE-481D-9B6F-328203AD5DD0}"/>
              </a:ext>
            </a:extLst>
          </p:cNvPr>
          <p:cNvSpPr>
            <a:spLocks xmlns:a="http://schemas.openxmlformats.org/drawingml/2006/main" noGrp="1"/>
          </p:cNvSpPr>
          <p:nvPr/>
        </p:nvSpPr>
        <p:spPr>
          <a:xfrm xmlns:a="http://schemas.openxmlformats.org/drawingml/2006/main">
            <a:off x="666750" y="5629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538"/>
                </a:solidFill>
                <a:latin typeface="Arial"/>
                <a:ea typeface="Arial"/>
                <a:cs typeface="Arial"/>
              </a:defRPr>
            </a:defPPr>
          </a:lstStyle>
          <a:p xmlns:a="http://schemas.openxmlformats.org/drawingml/2006/main">
            <a:pPr>
              <a:defRPr sz="1950" b="0">
                <a:solidFill>
                  <a:srgbClr val="142538"/>
                </a:solidFill>
                <a:latin typeface="Arial"/>
                <a:ea typeface="Arial"/>
                <a:cs typeface="Arial"/>
              </a:defRPr>
            </a:pPr>
            <a:r>
              <a:rPr sz="1950" b="0">
                <a:solidFill>
                  <a:srgbClr val="142538"/>
                </a:solidFill>
                <a:latin typeface="Arial"/>
                <a:ea typeface="Arial"/>
                <a:cs typeface="Arial"/>
              </a:rPr>
              <a:t>Transfer weight from negative to positive stocks. Keep the total at 100%.</a:t>
            </a:r>
          </a:p>
        </p:txBody>
      </p:sp>
    </p:spTree>
    <p:extLst>
      <p:ext uri="{BB962C8B-B14F-4D97-AF65-F5344CB8AC3E}">
        <p14:creationId xmlns:p14="http://schemas.microsoft.com/office/powerpoint/2010/main" val="20681273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E46D3A-196F-4B38-9FE2-5CB472AB64D2}"/>
              </a:ext>
            </a:extLst>
          </p:cNvPr>
          <p:cNvSpPr>
            <a:spLocks xmlns:a="http://schemas.openxmlformats.org/drawingml/2006/main" noGrp="1"/>
          </p:cNvSpPr>
          <p:nvPr/>
        </p:nvSpPr>
        <p:spPr>
          <a:xfrm xmlns:a="http://schemas.openxmlformats.org/drawingml/2006/main">
            <a:off x="666750" y="523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538"/>
                </a:solidFill>
                <a:latin typeface="Arial"/>
                <a:ea typeface="Arial"/>
                <a:cs typeface="Arial"/>
              </a:defRPr>
            </a:defPPr>
          </a:lstStyle>
          <a:p xmlns:a="http://schemas.openxmlformats.org/drawingml/2006/main">
            <a:pPr>
              <a:defRPr sz="3300" b="1">
                <a:solidFill>
                  <a:srgbClr val="142538"/>
                </a:solidFill>
                <a:latin typeface="Arial"/>
                <a:ea typeface="Arial"/>
                <a:cs typeface="Arial"/>
              </a:defRPr>
            </a:pPr>
            <a:r>
              <a:rPr sz="3300" b="1">
                <a:solidFill>
                  <a:srgbClr val="14253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936E6DF8-4A85-41D7-A20D-4DB92BA8DFA1}"/>
              </a:ext>
            </a:extLst>
          </p:cNvPr>
          <p:cNvSpPr>
            <a:spLocks xmlns:a="http://schemas.openxmlformats.org/drawingml/2006/main" noGrp="1"/>
          </p:cNvSpPr>
          <p:nvPr/>
        </p:nvSpPr>
        <p:spPr>
          <a:xfrm xmlns:a="http://schemas.openxmlformats.org/drawingml/2006/main">
            <a:off x="10953750" y="637222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F6070"/>
                </a:solidFill>
                <a:latin typeface="Arial"/>
                <a:ea typeface="Arial"/>
                <a:cs typeface="Arial"/>
              </a:defRPr>
            </a:defPPr>
          </a:lstStyle>
          <a:p xmlns:a="http://schemas.openxmlformats.org/drawingml/2006/main">
            <a:pPr>
              <a:defRPr sz="1350" b="0">
                <a:solidFill>
                  <a:srgbClr val="4F6070"/>
                </a:solidFill>
                <a:latin typeface="Arial"/>
                <a:ea typeface="Arial"/>
                <a:cs typeface="Arial"/>
              </a:defRPr>
            </a:pPr>
            <a:r>
              <a:rPr sz="1350" b="0">
                <a:solidFill>
                  <a:srgbClr val="4F6070"/>
                </a:solidFill>
                <a:latin typeface="Arial"/>
                <a:ea typeface="Arial"/>
                <a:cs typeface="Arial"/>
              </a:rPr>
              <a:t>5 / 7</a:t>
            </a:r>
          </a:p>
        </p:txBody>
      </p:sp>
      <p:sp>
        <p:nvSpPr>
          <p:cNvPr id="3" name="">
            <a:extLst xmlns:a="http://schemas.openxmlformats.org/drawingml/2006/main">
              <a:ext uri="{FF2B5EF4-FFF2-40B4-BE49-F238E27FC236}">
                <a16:creationId xmlns:a16="http://schemas.microsoft.com/office/drawing/2014/main" id="{C006059A-FE54-4583-8928-3C95431F4E66}"/>
              </a:ext>
            </a:extLst>
          </p:cNvPr>
          <p:cNvSpPr>
            <a:spLocks xmlns:a="http://schemas.openxmlformats.org/drawingml/2006/main" noGrp="1"/>
          </p:cNvSpPr>
          <p:nvPr/>
        </p:nvSpPr>
        <p:spPr>
          <a:xfrm xmlns:a="http://schemas.openxmlformats.org/drawingml/2006/main">
            <a:off x="666750" y="14763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B51F32"/>
                </a:solidFill>
                <a:latin typeface="Arial"/>
                <a:ea typeface="Arial"/>
                <a:cs typeface="Arial"/>
              </a:defRPr>
            </a:defPPr>
          </a:lstStyle>
          <a:p xmlns:a="http://schemas.openxmlformats.org/drawingml/2006/main">
            <a:pPr>
              <a:defRPr sz="4950" b="1">
                <a:solidFill>
                  <a:srgbClr val="B51F32"/>
                </a:solidFill>
                <a:latin typeface="Arial"/>
                <a:ea typeface="Arial"/>
                <a:cs typeface="Arial"/>
              </a:defRPr>
            </a:pPr>
            <a:r>
              <a:rPr sz="4950" b="1">
                <a:solidFill>
                  <a:srgbClr val="B51F32"/>
                </a:solidFill>
                <a:latin typeface="Arial"/>
                <a:ea typeface="Arial"/>
                <a:cs typeface="Arial"/>
              </a:rPr>
              <a:t>80.2%</a:t>
            </a:r>
          </a:p>
        </p:txBody>
      </p:sp>
      <p:sp>
        <p:nvSpPr>
          <p:cNvPr id="4" name="">
            <a:extLst xmlns:a="http://schemas.openxmlformats.org/drawingml/2006/main">
              <a:ext uri="{FF2B5EF4-FFF2-40B4-BE49-F238E27FC236}">
                <a16:creationId xmlns:a16="http://schemas.microsoft.com/office/drawing/2014/main" id="{C0C245CE-C342-48E0-A57C-79005EEFEAD3}"/>
              </a:ext>
            </a:extLst>
          </p:cNvPr>
          <p:cNvSpPr>
            <a:spLocks xmlns:a="http://schemas.openxmlformats.org/drawingml/2006/main" noGrp="1"/>
          </p:cNvSpPr>
          <p:nvPr/>
        </p:nvSpPr>
        <p:spPr>
          <a:xfrm xmlns:a="http://schemas.openxmlformats.org/drawingml/2006/main">
            <a:off x="666750" y="24479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2538"/>
                </a:solidFill>
                <a:latin typeface="Arial"/>
                <a:ea typeface="Arial"/>
                <a:cs typeface="Arial"/>
              </a:defRPr>
            </a:defPPr>
          </a:lstStyle>
          <a:p xmlns:a="http://schemas.openxmlformats.org/drawingml/2006/main">
            <a:pPr>
              <a:defRPr sz="2175" b="1">
                <a:solidFill>
                  <a:srgbClr val="142538"/>
                </a:solidFill>
                <a:latin typeface="Arial"/>
                <a:ea typeface="Arial"/>
                <a:cs typeface="Arial"/>
              </a:defRPr>
            </a:pPr>
            <a:r>
              <a:rPr sz="2175" b="1">
                <a:solidFill>
                  <a:srgbClr val="142538"/>
                </a:solidFill>
                <a:latin typeface="Arial"/>
                <a:ea typeface="Arial"/>
                <a:cs typeface="Arial"/>
              </a:rPr>
              <a:t>Social sentiment accuracy</a:t>
            </a:r>
          </a:p>
        </p:txBody>
      </p:sp>
      <p:sp>
        <p:nvSpPr>
          <p:cNvPr id="5" name="">
            <a:extLst xmlns:a="http://schemas.openxmlformats.org/drawingml/2006/main">
              <a:ext uri="{FF2B5EF4-FFF2-40B4-BE49-F238E27FC236}">
                <a16:creationId xmlns:a16="http://schemas.microsoft.com/office/drawing/2014/main" id="{F692B509-C9DF-4021-8C36-5ACBF27DB459}"/>
              </a:ext>
            </a:extLst>
          </p:cNvPr>
          <p:cNvSpPr>
            <a:spLocks xmlns:a="http://schemas.openxmlformats.org/drawingml/2006/main" noGrp="1"/>
          </p:cNvSpPr>
          <p:nvPr/>
        </p:nvSpPr>
        <p:spPr>
          <a:xfrm xmlns:a="http://schemas.openxmlformats.org/drawingml/2006/main">
            <a:off x="666750" y="30194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538"/>
                </a:solidFill>
                <a:latin typeface="Arial"/>
                <a:ea typeface="Arial"/>
                <a:cs typeface="Arial"/>
              </a:defRPr>
            </a:defPPr>
          </a:lstStyle>
          <a:p xmlns:a="http://schemas.openxmlformats.org/drawingml/2006/main">
            <a:pPr>
              <a:defRPr sz="2025" b="0">
                <a:solidFill>
                  <a:srgbClr val="142538"/>
                </a:solidFill>
                <a:latin typeface="Arial"/>
                <a:ea typeface="Arial"/>
                <a:cs typeface="Arial"/>
              </a:defRPr>
            </a:pPr>
            <a:r>
              <a:rPr sz="2025" b="0">
                <a:solidFill>
                  <a:srgbClr val="142538"/>
                </a:solidFill>
                <a:latin typeface="Arial"/>
                <a:ea typeface="Arial"/>
                <a:cs typeface="Arial"/>
              </a:rPr>
              <a:t>Macro F1: 0.744</a:t>
            </a:r>
          </a:p>
          <a:p xmlns:a="http://schemas.openxmlformats.org/drawingml/2006/main">
            <a:pPr>
              <a:defRPr sz="2025" b="0">
                <a:solidFill>
                  <a:srgbClr val="142538"/>
                </a:solidFill>
                <a:latin typeface="Arial"/>
                <a:ea typeface="Arial"/>
                <a:cs typeface="Arial"/>
              </a:defRPr>
            </a:pPr>
            <a:r>
              <a:rPr sz="2025" b="0">
                <a:solidFill>
                  <a:srgbClr val="142538"/>
                </a:solidFill>
                <a:latin typeface="Arial"/>
                <a:ea typeface="Arial"/>
                <a:cs typeface="Arial"/>
              </a:rPr>
              <a:t>Validation: 2,388 posts</a:t>
            </a:r>
          </a:p>
          <a:p xmlns:a="http://schemas.openxmlformats.org/drawingml/2006/main">
            <a:pPr>
              <a:defRPr sz="2025" b="0">
                <a:solidFill>
                  <a:srgbClr val="142538"/>
                </a:solidFill>
                <a:latin typeface="Arial"/>
                <a:ea typeface="Arial"/>
                <a:cs typeface="Arial"/>
              </a:defRPr>
            </a:pPr>
            <a:r>
              <a:rPr sz="2025" b="0">
                <a:solidFill>
                  <a:srgbClr val="142538"/>
                </a:solidFill>
                <a:latin typeface="Arial"/>
                <a:ea typeface="Arial"/>
                <a:cs typeface="Arial"/>
              </a:rPr>
              <a:t>Removed 68 overlapping training rows</a:t>
            </a:r>
          </a:p>
        </p:txBody>
      </p:sp>
      <p:graphicFrame>
        <p:nvGraphicFramePr>
          <p:cNvPr id="6" name="">
            <a:extLst xmlns:a="http://schemas.openxmlformats.org/drawingml/2006/main">
              <a:ext uri="{FF2B5EF4-FFF2-40B4-BE49-F238E27FC236}">
                <a16:creationId xmlns:a16="http://schemas.microsoft.com/office/drawing/2014/main" id="{497F5CC3-CEC9-4EB1-A448-27D4FB33303B}"/>
              </a:ext>
            </a:extLst>
          </p:cNvPr>
          <p:cNvGraphicFramePr/>
          <p:nvPr/>
        </p:nvGraphicFramePr>
        <p:xfrm>
          <a:off xmlns:a="http://schemas.openxmlformats.org/drawingml/2006/main" x="6572250" y="2019300"/>
          <a:ext xmlns:a="http://schemas.openxmlformats.org/drawingml/2006/main" cx="4953000" cy="2343150"/>
        </p:xfrm>
        <a:graphic xmlns:a="http://schemas.openxmlformats.org/drawingml/2006/main">
          <a:graphicData uri="http://schemas.openxmlformats.org/drawingml/2006/table">
            <a:tbl>
              <a:tblPr/>
              <a:tblGrid>
                <a:gridCol w="1524000"/>
                <a:gridCol w="1666875"/>
                <a:gridCol w="1762125"/>
              </a:tblGrid>
              <a:tr h="585788">
                <a:tc>
                  <a:txBody>
                    <a:bodyPr/>
                    <a:lstStyle/>
                    <a:p>
                      <a:r>
                        <a:rPr sz="1875" b="1">
                          <a:solidFill>
                            <a:srgbClr val="FFFFFF"/>
                          </a:solidFill>
                          <a:latin typeface="Arial"/>
                          <a:ea typeface="Arial"/>
                          <a:cs typeface="Arial"/>
                        </a:rPr>
                        <a:t>Stock</a:t>
                      </a:r>
                    </a:p>
                  </a:txBody>
                  <a:tcPr marL="91440" marR="91440" marT="45720" marB="45720">
                    <a:solidFill>
                      <a:srgbClr val="142538"/>
                    </a:solidFill>
                  </a:tcPr>
                </a:tc>
                <a:tc>
                  <a:txBody>
                    <a:bodyPr/>
                    <a:lstStyle/>
                    <a:p>
                      <a:r>
                        <a:rPr sz="1875" b="1">
                          <a:solidFill>
                            <a:srgbClr val="FFFFFF"/>
                          </a:solidFill>
                          <a:latin typeface="Arial"/>
                          <a:ea typeface="Arial"/>
                          <a:cs typeface="Arial"/>
                        </a:rPr>
                        <a:t>Start (%)</a:t>
                      </a:r>
                    </a:p>
                  </a:txBody>
                  <a:tcPr marL="91440" marR="91440" marT="45720" marB="45720">
                    <a:solidFill>
                      <a:srgbClr val="142538"/>
                    </a:solidFill>
                  </a:tcPr>
                </a:tc>
                <a:tc>
                  <a:txBody>
                    <a:bodyPr/>
                    <a:lstStyle/>
                    <a:p>
                      <a:r>
                        <a:rPr sz="1875" b="1">
                          <a:solidFill>
                            <a:srgbClr val="FFFFFF"/>
                          </a:solidFill>
                          <a:latin typeface="Arial"/>
                          <a:ea typeface="Arial"/>
                          <a:cs typeface="Arial"/>
                        </a:rPr>
                        <a:t>Final (%)</a:t>
                      </a:r>
                    </a:p>
                  </a:txBody>
                  <a:tcPr marL="91440" marR="91440" marT="45720" marB="45720">
                    <a:solidFill>
                      <a:srgbClr val="142538"/>
                    </a:solidFill>
                  </a:tcPr>
                </a:tc>
              </a:tr>
              <a:tr h="585788">
                <a:tc>
                  <a:txBody>
                    <a:bodyPr/>
                    <a:lstStyle/>
                    <a:p>
                      <a:r>
                        <a:rPr sz="1875" b="0">
                          <a:solidFill>
                            <a:srgbClr val="142538"/>
                          </a:solidFill>
                          <a:latin typeface="Arial"/>
                          <a:ea typeface="Arial"/>
                          <a:cs typeface="Arial"/>
                        </a:rPr>
                        <a:t>AAPL</a:t>
                      </a:r>
                    </a:p>
                  </a:txBody>
                  <a:tcPr marL="91440" marR="91440" marT="45720" marB="45720">
                    <a:solidFill>
                      <a:srgbClr val="FFFFFF"/>
                    </a:solidFill>
                  </a:tcPr>
                </a:tc>
                <a:tc>
                  <a:txBody>
                    <a:bodyPr/>
                    <a:lstStyle/>
                    <a:p>
                      <a:r>
                        <a:rPr sz="1875" b="0">
                          <a:solidFill>
                            <a:srgbClr val="142538"/>
                          </a:solidFill>
                          <a:latin typeface="Arial"/>
                          <a:ea typeface="Arial"/>
                          <a:cs typeface="Arial"/>
                        </a:rPr>
                        <a:t>10.0000</a:t>
                      </a:r>
                    </a:p>
                  </a:txBody>
                  <a:tcPr marL="91440" marR="91440" marT="45720" marB="45720">
                    <a:solidFill>
                      <a:srgbClr val="FFFFFF"/>
                    </a:solidFill>
                  </a:tcPr>
                </a:tc>
                <a:tc>
                  <a:txBody>
                    <a:bodyPr/>
                    <a:lstStyle/>
                    <a:p>
                      <a:r>
                        <a:rPr sz="1875" b="0">
                          <a:solidFill>
                            <a:srgbClr val="142538"/>
                          </a:solidFill>
                          <a:latin typeface="Arial"/>
                          <a:ea typeface="Arial"/>
                          <a:cs typeface="Arial"/>
                        </a:rPr>
                        <a:t>10.1099</a:t>
                      </a:r>
                    </a:p>
                  </a:txBody>
                  <a:tcPr marL="91440" marR="91440" marT="45720" marB="45720">
                    <a:solidFill>
                      <a:srgbClr val="FFFFFF"/>
                    </a:solidFill>
                  </a:tcPr>
                </a:tc>
              </a:tr>
              <a:tr h="585788">
                <a:tc>
                  <a:txBody>
                    <a:bodyPr/>
                    <a:lstStyle/>
                    <a:p>
                      <a:r>
                        <a:rPr sz="1875" b="0">
                          <a:solidFill>
                            <a:srgbClr val="142538"/>
                          </a:solidFill>
                          <a:latin typeface="Arial"/>
                          <a:ea typeface="Arial"/>
                          <a:cs typeface="Arial"/>
                        </a:rPr>
                        <a:t>AMZN</a:t>
                      </a:r>
                    </a:p>
                  </a:txBody>
                  <a:tcPr marL="91440" marR="91440" marT="45720" marB="45720">
                    <a:solidFill>
                      <a:srgbClr val="FFFFFF"/>
                    </a:solidFill>
                  </a:tcPr>
                </a:tc>
                <a:tc>
                  <a:txBody>
                    <a:bodyPr/>
                    <a:lstStyle/>
                    <a:p>
                      <a:r>
                        <a:rPr sz="1875" b="0">
                          <a:solidFill>
                            <a:srgbClr val="142538"/>
                          </a:solidFill>
                          <a:latin typeface="Arial"/>
                          <a:ea typeface="Arial"/>
                          <a:cs typeface="Arial"/>
                        </a:rPr>
                        <a:t>10.0000</a:t>
                      </a:r>
                    </a:p>
                  </a:txBody>
                  <a:tcPr marL="91440" marR="91440" marT="45720" marB="45720">
                    <a:solidFill>
                      <a:srgbClr val="FFFFFF"/>
                    </a:solidFill>
                  </a:tcPr>
                </a:tc>
                <a:tc>
                  <a:txBody>
                    <a:bodyPr/>
                    <a:lstStyle/>
                    <a:p>
                      <a:r>
                        <a:rPr sz="1875" b="0">
                          <a:solidFill>
                            <a:srgbClr val="142538"/>
                          </a:solidFill>
                          <a:latin typeface="Arial"/>
                          <a:ea typeface="Arial"/>
                          <a:cs typeface="Arial"/>
                        </a:rPr>
                        <a:t>10.3241</a:t>
                      </a:r>
                    </a:p>
                  </a:txBody>
                  <a:tcPr marL="91440" marR="91440" marT="45720" marB="45720">
                    <a:solidFill>
                      <a:srgbClr val="FFFFFF"/>
                    </a:solidFill>
                  </a:tcPr>
                </a:tc>
              </a:tr>
              <a:tr h="585788">
                <a:tc>
                  <a:txBody>
                    <a:bodyPr/>
                    <a:lstStyle/>
                    <a:p>
                      <a:r>
                        <a:rPr sz="1875" b="0">
                          <a:solidFill>
                            <a:srgbClr val="142538"/>
                          </a:solidFill>
                          <a:latin typeface="Arial"/>
                          <a:ea typeface="Arial"/>
                          <a:cs typeface="Arial"/>
                        </a:rPr>
                        <a:t>META</a:t>
                      </a:r>
                    </a:p>
                  </a:txBody>
                  <a:tcPr marL="91440" marR="91440" marT="45720" marB="45720">
                    <a:solidFill>
                      <a:srgbClr val="FFFFFF"/>
                    </a:solidFill>
                  </a:tcPr>
                </a:tc>
                <a:tc>
                  <a:txBody>
                    <a:bodyPr/>
                    <a:lstStyle/>
                    <a:p>
                      <a:r>
                        <a:rPr sz="1875" b="0">
                          <a:solidFill>
                            <a:srgbClr val="142538"/>
                          </a:solidFill>
                          <a:latin typeface="Arial"/>
                          <a:ea typeface="Arial"/>
                          <a:cs typeface="Arial"/>
                        </a:rPr>
                        <a:t>10.0000</a:t>
                      </a:r>
                    </a:p>
                  </a:txBody>
                  <a:tcPr marL="91440" marR="91440" marT="45720" marB="45720">
                    <a:solidFill>
                      <a:srgbClr val="FFFFFF"/>
                    </a:solidFill>
                  </a:tcPr>
                </a:tc>
                <a:tc>
                  <a:txBody>
                    <a:bodyPr/>
                    <a:lstStyle/>
                    <a:p>
                      <a:r>
                        <a:rPr sz="1875" b="0">
                          <a:solidFill>
                            <a:srgbClr val="142538"/>
                          </a:solidFill>
                          <a:latin typeface="Arial"/>
                          <a:ea typeface="Arial"/>
                          <a:cs typeface="Arial"/>
                        </a:rPr>
                        <a:t>9.2598</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FC4D2E8-D193-48F4-9C66-C814B73132B6}"/>
              </a:ext>
            </a:extLst>
          </p:cNvPr>
          <p:cNvSpPr>
            <a:spLocks xmlns:a="http://schemas.openxmlformats.org/drawingml/2006/main" noGrp="1"/>
          </p:cNvSpPr>
          <p:nvPr/>
        </p:nvSpPr>
        <p:spPr>
          <a:xfrm xmlns:a="http://schemas.openxmlformats.org/drawingml/2006/main">
            <a:off x="6572250" y="15430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42538"/>
                </a:solidFill>
                <a:latin typeface="Arial"/>
                <a:ea typeface="Arial"/>
                <a:cs typeface="Arial"/>
              </a:defRPr>
            </a:defPPr>
          </a:lstStyle>
          <a:p xmlns:a="http://schemas.openxmlformats.org/drawingml/2006/main">
            <a:pPr>
              <a:defRPr sz="1950" b="1">
                <a:solidFill>
                  <a:srgbClr val="142538"/>
                </a:solidFill>
                <a:latin typeface="Arial"/>
                <a:ea typeface="Arial"/>
                <a:cs typeface="Arial"/>
              </a:defRPr>
            </a:pPr>
            <a:r>
              <a:rPr sz="1950" b="1">
                <a:solidFill>
                  <a:srgbClr val="142538"/>
                </a:solidFill>
                <a:latin typeface="Arial"/>
                <a:ea typeface="Arial"/>
                <a:cs typeface="Arial"/>
              </a:rPr>
              <a:t>Examples from the default sample run</a:t>
            </a:r>
          </a:p>
        </p:txBody>
      </p:sp>
      <p:sp>
        <p:nvSpPr>
          <p:cNvPr id="8" name="">
            <a:extLst xmlns:a="http://schemas.openxmlformats.org/drawingml/2006/main">
              <a:ext uri="{FF2B5EF4-FFF2-40B4-BE49-F238E27FC236}">
                <a16:creationId xmlns:a16="http://schemas.microsoft.com/office/drawing/2014/main" id="{4273CD1C-01CF-42B9-AE83-9488D81992E9}"/>
              </a:ext>
            </a:extLst>
          </p:cNvPr>
          <p:cNvSpPr>
            <a:spLocks xmlns:a="http://schemas.openxmlformats.org/drawingml/2006/main" noGrp="1"/>
          </p:cNvSpPr>
          <p:nvPr/>
        </p:nvSpPr>
        <p:spPr>
          <a:xfrm xmlns:a="http://schemas.openxmlformats.org/drawingml/2006/main">
            <a:off x="666750" y="47910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538"/>
                </a:solidFill>
                <a:latin typeface="Arial"/>
                <a:ea typeface="Arial"/>
                <a:cs typeface="Arial"/>
              </a:defRPr>
            </a:defPPr>
          </a:lstStyle>
          <a:p xmlns:a="http://schemas.openxmlformats.org/drawingml/2006/main">
            <a:pPr>
              <a:defRPr sz="2025" b="0">
                <a:solidFill>
                  <a:srgbClr val="142538"/>
                </a:solidFill>
                <a:latin typeface="Arial"/>
                <a:ea typeface="Arial"/>
                <a:cs typeface="Arial"/>
              </a:defRPr>
            </a:pPr>
            <a:r>
              <a:rPr sz="2025" b="0">
                <a:solidFill>
                  <a:srgbClr val="142538"/>
                </a:solidFill>
                <a:latin typeface="Arial"/>
                <a:ea typeface="Arial"/>
                <a:cs typeface="Arial"/>
              </a:rPr>
              <a:t>24 input signals. 13 recognized events. Total final weight: 100%.</a:t>
            </a:r>
          </a:p>
        </p:txBody>
      </p:sp>
      <p:sp>
        <p:nvSpPr>
          <p:cNvPr id="9" name="">
            <a:extLst xmlns:a="http://schemas.openxmlformats.org/drawingml/2006/main">
              <a:ext uri="{FF2B5EF4-FFF2-40B4-BE49-F238E27FC236}">
                <a16:creationId xmlns:a16="http://schemas.microsoft.com/office/drawing/2014/main" id="{01AA71DA-0E69-43E4-8019-96701D77A289}"/>
              </a:ext>
            </a:extLst>
          </p:cNvPr>
          <p:cNvSpPr>
            <a:spLocks xmlns:a="http://schemas.openxmlformats.org/drawingml/2006/main" noGrp="1"/>
          </p:cNvSpPr>
          <p:nvPr/>
        </p:nvSpPr>
        <p:spPr>
          <a:xfrm xmlns:a="http://schemas.openxmlformats.org/drawingml/2006/main">
            <a:off x="666750" y="53244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538"/>
                </a:solidFill>
                <a:latin typeface="Arial"/>
                <a:ea typeface="Arial"/>
                <a:cs typeface="Arial"/>
              </a:defRPr>
            </a:defPPr>
          </a:lstStyle>
          <a:p xmlns:a="http://schemas.openxmlformats.org/drawingml/2006/main">
            <a:pPr>
              <a:defRPr sz="2025" b="0">
                <a:solidFill>
                  <a:srgbClr val="142538"/>
                </a:solidFill>
                <a:latin typeface="Arial"/>
                <a:ea typeface="Arial"/>
                <a:cs typeface="Arial"/>
              </a:defRPr>
            </a:pPr>
            <a:r>
              <a:rPr sz="2025" b="0">
                <a:solidFill>
                  <a:srgbClr val="142538"/>
                </a:solidFill>
                <a:latin typeface="Arial"/>
                <a:ea typeface="Arial"/>
                <a:cs typeface="Arial"/>
              </a:rPr>
              <a:t>All 9 code tests pass. A clean checkout runs the full pipeline.</a:t>
            </a:r>
          </a:p>
        </p:txBody>
      </p:sp>
      <p:sp>
        <p:nvSpPr>
          <p:cNvPr id="10" name="">
            <a:extLst xmlns:a="http://schemas.openxmlformats.org/drawingml/2006/main">
              <a:ext uri="{FF2B5EF4-FFF2-40B4-BE49-F238E27FC236}">
                <a16:creationId xmlns:a16="http://schemas.microsoft.com/office/drawing/2014/main" id="{AD5BA2E8-0F53-4CD4-900B-9805E4379277}"/>
              </a:ext>
            </a:extLst>
          </p:cNvPr>
          <p:cNvSpPr>
            <a:spLocks xmlns:a="http://schemas.openxmlformats.org/drawingml/2006/main" noGrp="1"/>
          </p:cNvSpPr>
          <p:nvPr/>
        </p:nvSpPr>
        <p:spPr>
          <a:xfrm xmlns:a="http://schemas.openxmlformats.org/drawingml/2006/main">
            <a:off x="666750" y="59150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4F6070"/>
                </a:solidFill>
                <a:latin typeface="Arial"/>
                <a:ea typeface="Arial"/>
                <a:cs typeface="Arial"/>
              </a:defRPr>
            </a:defPPr>
          </a:lstStyle>
          <a:p xmlns:a="http://schemas.openxmlformats.org/drawingml/2006/main">
            <a:pPr>
              <a:defRPr sz="1725" b="0">
                <a:solidFill>
                  <a:srgbClr val="4F6070"/>
                </a:solidFill>
                <a:latin typeface="Arial"/>
                <a:ea typeface="Arial"/>
                <a:cs typeface="Arial"/>
              </a:defRPr>
            </a:pPr>
            <a:r>
              <a:rPr sz="1725" b="0">
                <a:solidFill>
                  <a:srgbClr val="4F6070"/>
                </a:solidFill>
                <a:latin typeface="Arial"/>
                <a:ea typeface="Arial"/>
                <a:cs typeface="Arial"/>
              </a:rPr>
              <a:t>The accuracy above measures social sentiment only. We have not tested investment returns.</a:t>
            </a:r>
          </a:p>
        </p:txBody>
      </p:sp>
    </p:spTree>
    <p:extLst>
      <p:ext uri="{BB962C8B-B14F-4D97-AF65-F5344CB8AC3E}">
        <p14:creationId xmlns:p14="http://schemas.microsoft.com/office/powerpoint/2010/main" val="21016854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7AA1EB-481F-43B4-A1A1-B10946F9CB0F}"/>
              </a:ext>
            </a:extLst>
          </p:cNvPr>
          <p:cNvSpPr>
            <a:spLocks xmlns:a="http://schemas.openxmlformats.org/drawingml/2006/main" noGrp="1"/>
          </p:cNvSpPr>
          <p:nvPr/>
        </p:nvSpPr>
        <p:spPr>
          <a:xfrm xmlns:a="http://schemas.openxmlformats.org/drawingml/2006/main">
            <a:off x="666750" y="523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538"/>
                </a:solidFill>
                <a:latin typeface="Arial"/>
                <a:ea typeface="Arial"/>
                <a:cs typeface="Arial"/>
              </a:defRPr>
            </a:defPPr>
          </a:lstStyle>
          <a:p xmlns:a="http://schemas.openxmlformats.org/drawingml/2006/main">
            <a:pPr>
              <a:defRPr sz="3300" b="1">
                <a:solidFill>
                  <a:srgbClr val="142538"/>
                </a:solidFill>
                <a:latin typeface="Arial"/>
                <a:ea typeface="Arial"/>
                <a:cs typeface="Arial"/>
              </a:defRPr>
            </a:pPr>
            <a:r>
              <a:rPr sz="3300" b="1">
                <a:solidFill>
                  <a:srgbClr val="142538"/>
                </a:solidFill>
                <a:latin typeface="Arial"/>
                <a:ea typeface="Arial"/>
                <a:cs typeface="Arial"/>
              </a:rPr>
              <a:t>Use in financial analysis</a:t>
            </a:r>
          </a:p>
        </p:txBody>
      </p:sp>
      <p:sp>
        <p:nvSpPr>
          <p:cNvPr id="2" name="">
            <a:extLst xmlns:a="http://schemas.openxmlformats.org/drawingml/2006/main">
              <a:ext uri="{FF2B5EF4-FFF2-40B4-BE49-F238E27FC236}">
                <a16:creationId xmlns:a16="http://schemas.microsoft.com/office/drawing/2014/main" id="{4E984D02-050C-4582-AD0F-3E781BD85945}"/>
              </a:ext>
            </a:extLst>
          </p:cNvPr>
          <p:cNvSpPr>
            <a:spLocks xmlns:a="http://schemas.openxmlformats.org/drawingml/2006/main" noGrp="1"/>
          </p:cNvSpPr>
          <p:nvPr/>
        </p:nvSpPr>
        <p:spPr>
          <a:xfrm xmlns:a="http://schemas.openxmlformats.org/drawingml/2006/main">
            <a:off x="10953750" y="637222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F6070"/>
                </a:solidFill>
                <a:latin typeface="Arial"/>
                <a:ea typeface="Arial"/>
                <a:cs typeface="Arial"/>
              </a:defRPr>
            </a:defPPr>
          </a:lstStyle>
          <a:p xmlns:a="http://schemas.openxmlformats.org/drawingml/2006/main">
            <a:pPr>
              <a:defRPr sz="1350" b="0">
                <a:solidFill>
                  <a:srgbClr val="4F6070"/>
                </a:solidFill>
                <a:latin typeface="Arial"/>
                <a:ea typeface="Arial"/>
                <a:cs typeface="Arial"/>
              </a:defRPr>
            </a:pPr>
            <a:r>
              <a:rPr sz="1350" b="0">
                <a:solidFill>
                  <a:srgbClr val="4F6070"/>
                </a:solidFill>
                <a:latin typeface="Arial"/>
                <a:ea typeface="Arial"/>
                <a:cs typeface="Arial"/>
              </a:rPr>
              <a:t>6 / 7</a:t>
            </a:r>
          </a:p>
        </p:txBody>
      </p:sp>
      <p:sp>
        <p:nvSpPr>
          <p:cNvPr id="3" name="">
            <a:extLst xmlns:a="http://schemas.openxmlformats.org/drawingml/2006/main">
              <a:ext uri="{FF2B5EF4-FFF2-40B4-BE49-F238E27FC236}">
                <a16:creationId xmlns:a16="http://schemas.microsoft.com/office/drawing/2014/main" id="{01647814-E1D8-4552-B4D6-C1370DF15E97}"/>
              </a:ext>
            </a:extLst>
          </p:cNvPr>
          <p:cNvSpPr>
            <a:spLocks xmlns:a="http://schemas.openxmlformats.org/drawingml/2006/main" noGrp="1"/>
          </p:cNvSpPr>
          <p:nvPr/>
        </p:nvSpPr>
        <p:spPr>
          <a:xfrm xmlns:a="http://schemas.openxmlformats.org/drawingml/2006/main">
            <a:off x="666750" y="16192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Review company events</a:t>
            </a:r>
          </a:p>
        </p:txBody>
      </p:sp>
      <p:sp>
        <p:nvSpPr>
          <p:cNvPr id="4" name="">
            <a:extLst xmlns:a="http://schemas.openxmlformats.org/drawingml/2006/main">
              <a:ext uri="{FF2B5EF4-FFF2-40B4-BE49-F238E27FC236}">
                <a16:creationId xmlns:a16="http://schemas.microsoft.com/office/drawing/2014/main" id="{98636160-C47A-444D-8AA9-BC37B6BACAB8}"/>
              </a:ext>
            </a:extLst>
          </p:cNvPr>
          <p:cNvSpPr>
            <a:spLocks xmlns:a="http://schemas.openxmlformats.org/drawingml/2006/main" noGrp="1"/>
          </p:cNvSpPr>
          <p:nvPr/>
        </p:nvSpPr>
        <p:spPr>
          <a:xfrm xmlns:a="http://schemas.openxmlformats.org/drawingml/2006/main">
            <a:off x="666750" y="21526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538"/>
                </a:solidFill>
                <a:latin typeface="Arial"/>
                <a:ea typeface="Arial"/>
                <a:cs typeface="Arial"/>
              </a:defRPr>
            </a:defPPr>
          </a:lstStyle>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An analyst can filter news and social signals by source.</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Each signal shows the text, company, score and event type. Source links help review the evidence.</a:t>
            </a:r>
          </a:p>
        </p:txBody>
      </p:sp>
      <p:sp>
        <p:nvSpPr>
          <p:cNvPr id="5" name="">
            <a:extLst xmlns:a="http://schemas.openxmlformats.org/drawingml/2006/main">
              <a:ext uri="{FF2B5EF4-FFF2-40B4-BE49-F238E27FC236}">
                <a16:creationId xmlns:a16="http://schemas.microsoft.com/office/drawing/2014/main" id="{C196BECE-2D2E-4168-BEC4-16C0A8A7C9C6}"/>
              </a:ext>
            </a:extLst>
          </p:cNvPr>
          <p:cNvSpPr>
            <a:spLocks xmlns:a="http://schemas.openxmlformats.org/drawingml/2006/main" noGrp="1"/>
          </p:cNvSpPr>
          <p:nvPr/>
        </p:nvSpPr>
        <p:spPr>
          <a:xfrm xmlns:a="http://schemas.openxmlformats.org/drawingml/2006/main">
            <a:off x="6572250" y="16192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Inspect index changes</a:t>
            </a:r>
          </a:p>
        </p:txBody>
      </p:sp>
      <p:sp>
        <p:nvSpPr>
          <p:cNvPr id="6" name="">
            <a:extLst xmlns:a="http://schemas.openxmlformats.org/drawingml/2006/main">
              <a:ext uri="{FF2B5EF4-FFF2-40B4-BE49-F238E27FC236}">
                <a16:creationId xmlns:a16="http://schemas.microsoft.com/office/drawing/2014/main" id="{B74BE919-034F-4675-8508-4D3CD999095F}"/>
              </a:ext>
            </a:extLst>
          </p:cNvPr>
          <p:cNvSpPr>
            <a:spLocks xmlns:a="http://schemas.openxmlformats.org/drawingml/2006/main" noGrp="1"/>
          </p:cNvSpPr>
          <p:nvPr/>
        </p:nvSpPr>
        <p:spPr>
          <a:xfrm xmlns:a="http://schemas.openxmlformats.org/drawingml/2006/main">
            <a:off x="6572250" y="21526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538"/>
                </a:solidFill>
                <a:latin typeface="Arial"/>
                <a:ea typeface="Arial"/>
                <a:cs typeface="Arial"/>
              </a:defRPr>
            </a:defPPr>
          </a:lstStyle>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The dashboard shows how sentiment changes the mock weights.</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An analyst can enter a new headline and inspect its effect before changing saved data.</a:t>
            </a:r>
          </a:p>
        </p:txBody>
      </p:sp>
      <p:sp>
        <p:nvSpPr>
          <p:cNvPr id="7" name="">
            <a:extLst xmlns:a="http://schemas.openxmlformats.org/drawingml/2006/main">
              <a:ext uri="{FF2B5EF4-FFF2-40B4-BE49-F238E27FC236}">
                <a16:creationId xmlns:a16="http://schemas.microsoft.com/office/drawing/2014/main" id="{5F690EC9-1503-44FB-A3D1-AC08D04EAB50}"/>
              </a:ext>
            </a:extLst>
          </p:cNvPr>
          <p:cNvSpPr>
            <a:spLocks xmlns:a="http://schemas.openxmlformats.org/drawingml/2006/main" noGrp="1"/>
          </p:cNvSpPr>
          <p:nvPr/>
        </p:nvSpPr>
        <p:spPr>
          <a:xfrm xmlns:a="http://schemas.openxmlformats.org/drawingml/2006/main">
            <a:off x="666750" y="49720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Current value</a:t>
            </a:r>
          </a:p>
        </p:txBody>
      </p:sp>
      <p:sp>
        <p:nvSpPr>
          <p:cNvPr id="8" name="">
            <a:extLst xmlns:a="http://schemas.openxmlformats.org/drawingml/2006/main">
              <a:ext uri="{FF2B5EF4-FFF2-40B4-BE49-F238E27FC236}">
                <a16:creationId xmlns:a16="http://schemas.microsoft.com/office/drawing/2014/main" id="{6A73599A-7607-495A-AF2E-C6C81A8836BA}"/>
              </a:ext>
            </a:extLst>
          </p:cNvPr>
          <p:cNvSpPr>
            <a:spLocks xmlns:a="http://schemas.openxmlformats.org/drawingml/2006/main" noGrp="1"/>
          </p:cNvSpPr>
          <p:nvPr/>
        </p:nvSpPr>
        <p:spPr>
          <a:xfrm xmlns:a="http://schemas.openxmlformats.org/drawingml/2006/main">
            <a:off x="666750" y="5514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538"/>
                </a:solidFill>
                <a:latin typeface="Arial"/>
                <a:ea typeface="Arial"/>
                <a:cs typeface="Arial"/>
              </a:defRPr>
            </a:defPPr>
          </a:lstStyle>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A repeatable way to inspect text signals and test a simple weighting rule.</a:t>
            </a:r>
          </a:p>
        </p:txBody>
      </p:sp>
    </p:spTree>
    <p:extLst>
      <p:ext uri="{BB962C8B-B14F-4D97-AF65-F5344CB8AC3E}">
        <p14:creationId xmlns:p14="http://schemas.microsoft.com/office/powerpoint/2010/main" val="8632405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E721F4-EFE5-4BF1-BA24-C36CF04D86BE}"/>
              </a:ext>
            </a:extLst>
          </p:cNvPr>
          <p:cNvSpPr>
            <a:spLocks xmlns:a="http://schemas.openxmlformats.org/drawingml/2006/main" noGrp="1"/>
          </p:cNvSpPr>
          <p:nvPr/>
        </p:nvSpPr>
        <p:spPr>
          <a:xfrm xmlns:a="http://schemas.openxmlformats.org/drawingml/2006/main">
            <a:off x="666750" y="523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538"/>
                </a:solidFill>
                <a:latin typeface="Arial"/>
                <a:ea typeface="Arial"/>
                <a:cs typeface="Arial"/>
              </a:defRPr>
            </a:defPPr>
          </a:lstStyle>
          <a:p xmlns:a="http://schemas.openxmlformats.org/drawingml/2006/main">
            <a:pPr>
              <a:defRPr sz="3300" b="1">
                <a:solidFill>
                  <a:srgbClr val="142538"/>
                </a:solidFill>
                <a:latin typeface="Arial"/>
                <a:ea typeface="Arial"/>
                <a:cs typeface="Arial"/>
              </a:defRPr>
            </a:pPr>
            <a:r>
              <a:rPr sz="3300" b="1">
                <a:solidFill>
                  <a:srgbClr val="142538"/>
                </a:solidFill>
                <a:latin typeface="Arial"/>
                <a:ea typeface="Arial"/>
                <a:cs typeface="Arial"/>
              </a:rPr>
              <a:t>Limitations and next steps</a:t>
            </a:r>
          </a:p>
        </p:txBody>
      </p:sp>
      <p:sp>
        <p:nvSpPr>
          <p:cNvPr id="2" name="">
            <a:extLst xmlns:a="http://schemas.openxmlformats.org/drawingml/2006/main">
              <a:ext uri="{FF2B5EF4-FFF2-40B4-BE49-F238E27FC236}">
                <a16:creationId xmlns:a16="http://schemas.microsoft.com/office/drawing/2014/main" id="{9384F230-3879-48BB-B129-6F93E7955355}"/>
              </a:ext>
            </a:extLst>
          </p:cNvPr>
          <p:cNvSpPr>
            <a:spLocks xmlns:a="http://schemas.openxmlformats.org/drawingml/2006/main" noGrp="1"/>
          </p:cNvSpPr>
          <p:nvPr/>
        </p:nvSpPr>
        <p:spPr>
          <a:xfrm xmlns:a="http://schemas.openxmlformats.org/drawingml/2006/main">
            <a:off x="10953750" y="637222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F6070"/>
                </a:solidFill>
                <a:latin typeface="Arial"/>
                <a:ea typeface="Arial"/>
                <a:cs typeface="Arial"/>
              </a:defRPr>
            </a:defPPr>
          </a:lstStyle>
          <a:p xmlns:a="http://schemas.openxmlformats.org/drawingml/2006/main">
            <a:pPr>
              <a:defRPr sz="1350" b="0">
                <a:solidFill>
                  <a:srgbClr val="4F6070"/>
                </a:solidFill>
                <a:latin typeface="Arial"/>
                <a:ea typeface="Arial"/>
                <a:cs typeface="Arial"/>
              </a:defRPr>
            </a:pPr>
            <a:r>
              <a:rPr sz="1350" b="0">
                <a:solidFill>
                  <a:srgbClr val="4F6070"/>
                </a:solidFill>
                <a:latin typeface="Arial"/>
                <a:ea typeface="Arial"/>
                <a:cs typeface="Arial"/>
              </a:rPr>
              <a:t>7 / 7</a:t>
            </a:r>
          </a:p>
        </p:txBody>
      </p:sp>
      <p:sp>
        <p:nvSpPr>
          <p:cNvPr id="3" name="">
            <a:extLst xmlns:a="http://schemas.openxmlformats.org/drawingml/2006/main">
              <a:ext uri="{FF2B5EF4-FFF2-40B4-BE49-F238E27FC236}">
                <a16:creationId xmlns:a16="http://schemas.microsoft.com/office/drawing/2014/main" id="{5E4CBE27-6F49-4FE2-B530-20A0449353D2}"/>
              </a:ext>
            </a:extLst>
          </p:cNvPr>
          <p:cNvSpPr>
            <a:spLocks xmlns:a="http://schemas.openxmlformats.org/drawingml/2006/main" noGrp="1"/>
          </p:cNvSpPr>
          <p:nvPr/>
        </p:nvSpPr>
        <p:spPr>
          <a:xfrm xmlns:a="http://schemas.openxmlformats.org/drawingml/2006/main">
            <a:off x="666750" y="16192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Current limits</a:t>
            </a:r>
          </a:p>
        </p:txBody>
      </p:sp>
      <p:sp>
        <p:nvSpPr>
          <p:cNvPr id="4" name="">
            <a:extLst xmlns:a="http://schemas.openxmlformats.org/drawingml/2006/main">
              <a:ext uri="{FF2B5EF4-FFF2-40B4-BE49-F238E27FC236}">
                <a16:creationId xmlns:a16="http://schemas.microsoft.com/office/drawing/2014/main" id="{9DD6DA90-BAF2-4E34-8A14-3CE0BAC9E986}"/>
              </a:ext>
            </a:extLst>
          </p:cNvPr>
          <p:cNvSpPr>
            <a:spLocks xmlns:a="http://schemas.openxmlformats.org/drawingml/2006/main" noGrp="1"/>
          </p:cNvSpPr>
          <p:nvPr/>
        </p:nvSpPr>
        <p:spPr>
          <a:xfrm xmlns:a="http://schemas.openxmlformats.org/drawingml/2006/main">
            <a:off x="666750" y="21526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538"/>
                </a:solidFill>
                <a:latin typeface="Arial"/>
                <a:ea typeface="Arial"/>
                <a:cs typeface="Arial"/>
              </a:defRPr>
            </a:defPPr>
          </a:lstStyle>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News sentiment has no separate accuracy test.</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Event labels and impact scores use rules.</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Replay uses file order. Live feeds need a manual run.</a:t>
            </a:r>
          </a:p>
        </p:txBody>
      </p:sp>
      <p:sp>
        <p:nvSpPr>
          <p:cNvPr id="5" name="">
            <a:extLst xmlns:a="http://schemas.openxmlformats.org/drawingml/2006/main">
              <a:ext uri="{FF2B5EF4-FFF2-40B4-BE49-F238E27FC236}">
                <a16:creationId xmlns:a16="http://schemas.microsoft.com/office/drawing/2014/main" id="{945D6A45-7ABA-42E8-8ACB-2F958618B9EB}"/>
              </a:ext>
            </a:extLst>
          </p:cNvPr>
          <p:cNvSpPr>
            <a:spLocks xmlns:a="http://schemas.openxmlformats.org/drawingml/2006/main" noGrp="1"/>
          </p:cNvSpPr>
          <p:nvPr/>
        </p:nvSpPr>
        <p:spPr>
          <a:xfrm xmlns:a="http://schemas.openxmlformats.org/drawingml/2006/main">
            <a:off x="6572250" y="16192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Next steps</a:t>
            </a:r>
          </a:p>
        </p:txBody>
      </p:sp>
      <p:sp>
        <p:nvSpPr>
          <p:cNvPr id="6" name="">
            <a:extLst xmlns:a="http://schemas.openxmlformats.org/drawingml/2006/main">
              <a:ext uri="{FF2B5EF4-FFF2-40B4-BE49-F238E27FC236}">
                <a16:creationId xmlns:a16="http://schemas.microsoft.com/office/drawing/2014/main" id="{049B881D-CC2F-4DBF-A564-0118CA4CEC7F}"/>
              </a:ext>
            </a:extLst>
          </p:cNvPr>
          <p:cNvSpPr>
            <a:spLocks xmlns:a="http://schemas.openxmlformats.org/drawingml/2006/main" noGrp="1"/>
          </p:cNvSpPr>
          <p:nvPr/>
        </p:nvSpPr>
        <p:spPr>
          <a:xfrm xmlns:a="http://schemas.openxmlformats.org/drawingml/2006/main">
            <a:off x="6572250" y="21526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538"/>
                </a:solidFill>
                <a:latin typeface="Arial"/>
                <a:ea typeface="Arial"/>
                <a:cs typeface="Arial"/>
              </a:defRPr>
            </a:defPPr>
          </a:lstStyle>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Label more news and test the model on it.</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Test event labels and impact assumptions.</a:t>
            </a:r>
          </a:p>
          <a:p xmlns:a="http://schemas.openxmlformats.org/drawingml/2006/main">
            <a:r>
              <a:t/>
            </a:r>
          </a:p>
          <a:p xmlns:a="http://schemas.openxmlformats.org/drawingml/2006/main">
            <a:pPr>
              <a:defRPr sz="2100" b="0">
                <a:solidFill>
                  <a:srgbClr val="142538"/>
                </a:solidFill>
                <a:latin typeface="Arial"/>
                <a:ea typeface="Arial"/>
                <a:cs typeface="Arial"/>
              </a:defRPr>
            </a:pPr>
            <a:r>
              <a:rPr sz="2100" b="0">
                <a:solidFill>
                  <a:srgbClr val="142538"/>
                </a:solidFill>
                <a:latin typeface="Arial"/>
                <a:ea typeface="Arial"/>
                <a:cs typeface="Arial"/>
              </a:rPr>
              <a:t>Add scheduled updates and real timestamps. Backtest weights with prices and trading costs.</a:t>
            </a:r>
          </a:p>
        </p:txBody>
      </p:sp>
      <p:sp>
        <p:nvSpPr>
          <p:cNvPr id="7" name="">
            <a:extLst xmlns:a="http://schemas.openxmlformats.org/drawingml/2006/main">
              <a:ext uri="{FF2B5EF4-FFF2-40B4-BE49-F238E27FC236}">
                <a16:creationId xmlns:a16="http://schemas.microsoft.com/office/drawing/2014/main" id="{90291F09-60C4-4990-A33B-A923913F0D31}"/>
              </a:ext>
            </a:extLst>
          </p:cNvPr>
          <p:cNvSpPr>
            <a:spLocks xmlns:a="http://schemas.openxmlformats.org/drawingml/2006/main" noGrp="1"/>
          </p:cNvSpPr>
          <p:nvPr/>
        </p:nvSpPr>
        <p:spPr>
          <a:xfrm xmlns:a="http://schemas.openxmlformats.org/drawingml/2006/main">
            <a:off x="666750" y="5067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B51F32"/>
                </a:solidFill>
                <a:latin typeface="Arial"/>
                <a:ea typeface="Arial"/>
                <a:cs typeface="Arial"/>
              </a:defRPr>
            </a:defPPr>
          </a:lstStyle>
          <a:p xmlns:a="http://schemas.openxmlformats.org/drawingml/2006/main">
            <a:pPr>
              <a:defRPr sz="2175" b="1">
                <a:solidFill>
                  <a:srgbClr val="B51F32"/>
                </a:solidFill>
                <a:latin typeface="Arial"/>
                <a:ea typeface="Arial"/>
                <a:cs typeface="Arial"/>
              </a:defRPr>
            </a:pPr>
            <a:r>
              <a:rPr sz="2175" b="1">
                <a:solidFill>
                  <a:srgbClr val="B51F32"/>
                </a:solidFill>
                <a:latin typeface="Arial"/>
                <a:ea typeface="Arial"/>
                <a:cs typeface="Arial"/>
              </a:rPr>
              <a:t>Code and setup instructions</a:t>
            </a:r>
          </a:p>
        </p:txBody>
      </p:sp>
      <p:sp>
        <p:nvSpPr>
          <p:cNvPr id="8" name="">
            <a:extLst xmlns:a="http://schemas.openxmlformats.org/drawingml/2006/main">
              <a:ext uri="{FF2B5EF4-FFF2-40B4-BE49-F238E27FC236}">
                <a16:creationId xmlns:a16="http://schemas.microsoft.com/office/drawing/2014/main" id="{84EB0646-8F93-47AD-846E-1B3DB6145EF5}"/>
              </a:ext>
            </a:extLst>
          </p:cNvPr>
          <p:cNvSpPr>
            <a:spLocks xmlns:a="http://schemas.openxmlformats.org/drawingml/2006/main" noGrp="1"/>
          </p:cNvSpPr>
          <p:nvPr/>
        </p:nvSpPr>
        <p:spPr>
          <a:xfrm xmlns:a="http://schemas.openxmlformats.org/drawingml/2006/main">
            <a:off x="666750" y="55816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538"/>
                </a:solidFill>
                <a:latin typeface="Arial"/>
                <a:ea typeface="Arial"/>
                <a:cs typeface="Arial"/>
              </a:defRPr>
            </a:defPPr>
          </a:lstStyle>
          <a:p xmlns:a="http://schemas.openxmlformats.org/drawingml/2006/main">
            <a:pPr>
              <a:defRPr sz="1875" b="0">
                <a:solidFill>
                  <a:srgbClr val="142538"/>
                </a:solidFill>
                <a:latin typeface="Arial"/>
                <a:ea typeface="Arial"/>
                <a:cs typeface="Arial"/>
              </a:defRPr>
            </a:pPr>
            <a:r>
              <a:rPr sz="1875" b="0">
                <a:solidFill>
                  <a:srgbClr val="142538"/>
                </a:solidFill>
                <a:latin typeface="Arial"/>
                <a:ea typeface="Arial"/>
                <a:cs typeface="Arial"/>
              </a:rPr>
              <a:t>github.com/parth-chourasia/</a:t>
            </a:r>
          </a:p>
          <a:p xmlns:a="http://schemas.openxmlformats.org/drawingml/2006/main">
            <a:pPr>
              <a:defRPr sz="1875" b="0">
                <a:solidFill>
                  <a:srgbClr val="142538"/>
                </a:solidFill>
                <a:latin typeface="Arial"/>
                <a:ea typeface="Arial"/>
                <a:cs typeface="Arial"/>
              </a:defRPr>
            </a:pPr>
            <a:r>
              <a:rPr sz="1875" b="0">
                <a:solidFill>
                  <a:srgbClr val="142538"/>
                </a:solidFill>
                <a:latin typeface="Arial"/>
                <a:ea typeface="Arial"/>
                <a:cs typeface="Arial"/>
              </a:rPr>
              <a:t>BITS_Goa-Parth_Chourasia_hackathon</a:t>
            </a:r>
          </a:p>
        </p:txBody>
      </p:sp>
    </p:spTree>
    <p:extLst>
      <p:ext uri="{BB962C8B-B14F-4D97-AF65-F5344CB8AC3E}">
        <p14:creationId xmlns:p14="http://schemas.microsoft.com/office/powerpoint/2010/main" val="19953406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2026-10-10T18:36:44.8400000Z</dcterms:created>
  <dcterms:modified xsi:type="dcterms:W3CDTF">2026-10-10T18:36:44.8400000Z</dcterms:modified>
</coreProperties>
</file>